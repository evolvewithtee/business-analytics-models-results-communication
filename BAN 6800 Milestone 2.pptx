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5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6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7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11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12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13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69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2192000" cy="6858000"/>
  <p:notesSz cx="6858000" cy="9144000"/>
  <p:defaultTextStyle>
    <a:defPPr>
      <a:defRPr lang="en-N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diagrams/_rels/data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diagrams/_rels/drawing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2FBA0AB-DAF5-488A-A16A-6A00FCD81448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C0AFABE2-E570-4171-9917-F3AC078CBD93}">
      <dgm:prSet/>
      <dgm:spPr/>
      <dgm:t>
        <a:bodyPr/>
        <a:lstStyle/>
        <a:p>
          <a:r>
            <a:rPr lang="en-US"/>
            <a:t>High marketing spend with unclear performance drivers.</a:t>
          </a:r>
        </a:p>
      </dgm:t>
    </dgm:pt>
    <dgm:pt modelId="{B43C3A89-2C23-47B8-93E4-46949B319007}" type="parTrans" cxnId="{2F61DBC0-86EB-4BFD-BED5-ADED9BD5126E}">
      <dgm:prSet/>
      <dgm:spPr/>
      <dgm:t>
        <a:bodyPr/>
        <a:lstStyle/>
        <a:p>
          <a:endParaRPr lang="en-US"/>
        </a:p>
      </dgm:t>
    </dgm:pt>
    <dgm:pt modelId="{D8F4A229-2185-4AC8-9C39-F80351310944}" type="sibTrans" cxnId="{2F61DBC0-86EB-4BFD-BED5-ADED9BD5126E}">
      <dgm:prSet/>
      <dgm:spPr/>
      <dgm:t>
        <a:bodyPr/>
        <a:lstStyle/>
        <a:p>
          <a:endParaRPr lang="en-US"/>
        </a:p>
      </dgm:t>
    </dgm:pt>
    <dgm:pt modelId="{AE4E244E-82D0-4F21-AAA3-3805766978A0}">
      <dgm:prSet/>
      <dgm:spPr/>
      <dgm:t>
        <a:bodyPr/>
        <a:lstStyle/>
        <a:p>
          <a:r>
            <a:rPr lang="en-US"/>
            <a:t>Inability to accurately select high-ROI campaigns.</a:t>
          </a:r>
        </a:p>
      </dgm:t>
    </dgm:pt>
    <dgm:pt modelId="{824E77CE-B303-4319-A6E7-A7EFFED80C9D}" type="parTrans" cxnId="{AE8E0D08-CFAD-4FE7-999A-97142266810C}">
      <dgm:prSet/>
      <dgm:spPr/>
      <dgm:t>
        <a:bodyPr/>
        <a:lstStyle/>
        <a:p>
          <a:endParaRPr lang="en-US"/>
        </a:p>
      </dgm:t>
    </dgm:pt>
    <dgm:pt modelId="{39D6E5D0-7C05-4C7F-85D2-586AF9ACD2B1}" type="sibTrans" cxnId="{AE8E0D08-CFAD-4FE7-999A-97142266810C}">
      <dgm:prSet/>
      <dgm:spPr/>
      <dgm:t>
        <a:bodyPr/>
        <a:lstStyle/>
        <a:p>
          <a:endParaRPr lang="en-US"/>
        </a:p>
      </dgm:t>
    </dgm:pt>
    <dgm:pt modelId="{DE599D50-F9C3-4DCB-83F1-69BDDC6F12A1}" type="pres">
      <dgm:prSet presAssocID="{52FBA0AB-DAF5-488A-A16A-6A00FCD81448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5C149011-5B43-4E6A-96AC-146EBB71DF04}" type="pres">
      <dgm:prSet presAssocID="{C0AFABE2-E570-4171-9917-F3AC078CBD93}" presName="hierRoot1" presStyleCnt="0"/>
      <dgm:spPr/>
    </dgm:pt>
    <dgm:pt modelId="{F811933D-E71E-45F3-BE87-39E55076F0CA}" type="pres">
      <dgm:prSet presAssocID="{C0AFABE2-E570-4171-9917-F3AC078CBD93}" presName="composite" presStyleCnt="0"/>
      <dgm:spPr/>
    </dgm:pt>
    <dgm:pt modelId="{473F257D-2373-4385-A5AF-0B192A24B85F}" type="pres">
      <dgm:prSet presAssocID="{C0AFABE2-E570-4171-9917-F3AC078CBD93}" presName="background" presStyleLbl="node0" presStyleIdx="0" presStyleCnt="2"/>
      <dgm:spPr/>
    </dgm:pt>
    <dgm:pt modelId="{53FB8E86-0BF2-44FE-A490-8E7D37834F95}" type="pres">
      <dgm:prSet presAssocID="{C0AFABE2-E570-4171-9917-F3AC078CBD93}" presName="text" presStyleLbl="fgAcc0" presStyleIdx="0" presStyleCnt="2">
        <dgm:presLayoutVars>
          <dgm:chPref val="3"/>
        </dgm:presLayoutVars>
      </dgm:prSet>
      <dgm:spPr/>
    </dgm:pt>
    <dgm:pt modelId="{12296AFF-8544-49C9-ABBB-A196D9F2E94A}" type="pres">
      <dgm:prSet presAssocID="{C0AFABE2-E570-4171-9917-F3AC078CBD93}" presName="hierChild2" presStyleCnt="0"/>
      <dgm:spPr/>
    </dgm:pt>
    <dgm:pt modelId="{95E6868D-20AA-44EB-9EE5-8DF4754DE7B5}" type="pres">
      <dgm:prSet presAssocID="{AE4E244E-82D0-4F21-AAA3-3805766978A0}" presName="hierRoot1" presStyleCnt="0"/>
      <dgm:spPr/>
    </dgm:pt>
    <dgm:pt modelId="{BF66B0F1-432E-4FC4-90DB-D2CDD96D128A}" type="pres">
      <dgm:prSet presAssocID="{AE4E244E-82D0-4F21-AAA3-3805766978A0}" presName="composite" presStyleCnt="0"/>
      <dgm:spPr/>
    </dgm:pt>
    <dgm:pt modelId="{F3E10BEE-9117-40F3-A8A1-B062EFEA04BD}" type="pres">
      <dgm:prSet presAssocID="{AE4E244E-82D0-4F21-AAA3-3805766978A0}" presName="background" presStyleLbl="node0" presStyleIdx="1" presStyleCnt="2"/>
      <dgm:spPr/>
    </dgm:pt>
    <dgm:pt modelId="{E94687DF-B517-4B0E-A4FA-609E0C042B5F}" type="pres">
      <dgm:prSet presAssocID="{AE4E244E-82D0-4F21-AAA3-3805766978A0}" presName="text" presStyleLbl="fgAcc0" presStyleIdx="1" presStyleCnt="2">
        <dgm:presLayoutVars>
          <dgm:chPref val="3"/>
        </dgm:presLayoutVars>
      </dgm:prSet>
      <dgm:spPr/>
    </dgm:pt>
    <dgm:pt modelId="{27587FFF-F61B-434A-AF83-981FDD5DF0CA}" type="pres">
      <dgm:prSet presAssocID="{AE4E244E-82D0-4F21-AAA3-3805766978A0}" presName="hierChild2" presStyleCnt="0"/>
      <dgm:spPr/>
    </dgm:pt>
  </dgm:ptLst>
  <dgm:cxnLst>
    <dgm:cxn modelId="{AE8E0D08-CFAD-4FE7-999A-97142266810C}" srcId="{52FBA0AB-DAF5-488A-A16A-6A00FCD81448}" destId="{AE4E244E-82D0-4F21-AAA3-3805766978A0}" srcOrd="1" destOrd="0" parTransId="{824E77CE-B303-4319-A6E7-A7EFFED80C9D}" sibTransId="{39D6E5D0-7C05-4C7F-85D2-586AF9ACD2B1}"/>
    <dgm:cxn modelId="{5FD0D97B-9EDD-4251-B94B-A1B8A16AA971}" type="presOf" srcId="{52FBA0AB-DAF5-488A-A16A-6A00FCD81448}" destId="{DE599D50-F9C3-4DCB-83F1-69BDDC6F12A1}" srcOrd="0" destOrd="0" presId="urn:microsoft.com/office/officeart/2005/8/layout/hierarchy1"/>
    <dgm:cxn modelId="{2F61DBC0-86EB-4BFD-BED5-ADED9BD5126E}" srcId="{52FBA0AB-DAF5-488A-A16A-6A00FCD81448}" destId="{C0AFABE2-E570-4171-9917-F3AC078CBD93}" srcOrd="0" destOrd="0" parTransId="{B43C3A89-2C23-47B8-93E4-46949B319007}" sibTransId="{D8F4A229-2185-4AC8-9C39-F80351310944}"/>
    <dgm:cxn modelId="{FDCBCFD6-9EAA-48E5-B399-6CE2F5C8E00E}" type="presOf" srcId="{AE4E244E-82D0-4F21-AAA3-3805766978A0}" destId="{E94687DF-B517-4B0E-A4FA-609E0C042B5F}" srcOrd="0" destOrd="0" presId="urn:microsoft.com/office/officeart/2005/8/layout/hierarchy1"/>
    <dgm:cxn modelId="{6A88FEE9-0861-42E5-929A-589FBE5C9F56}" type="presOf" srcId="{C0AFABE2-E570-4171-9917-F3AC078CBD93}" destId="{53FB8E86-0BF2-44FE-A490-8E7D37834F95}" srcOrd="0" destOrd="0" presId="urn:microsoft.com/office/officeart/2005/8/layout/hierarchy1"/>
    <dgm:cxn modelId="{2AF5A352-A1DE-47C4-A5B3-D7327C6FE21D}" type="presParOf" srcId="{DE599D50-F9C3-4DCB-83F1-69BDDC6F12A1}" destId="{5C149011-5B43-4E6A-96AC-146EBB71DF04}" srcOrd="0" destOrd="0" presId="urn:microsoft.com/office/officeart/2005/8/layout/hierarchy1"/>
    <dgm:cxn modelId="{FCB635C7-A8DB-46D8-B66B-AF12E2A936D2}" type="presParOf" srcId="{5C149011-5B43-4E6A-96AC-146EBB71DF04}" destId="{F811933D-E71E-45F3-BE87-39E55076F0CA}" srcOrd="0" destOrd="0" presId="urn:microsoft.com/office/officeart/2005/8/layout/hierarchy1"/>
    <dgm:cxn modelId="{13CF7013-088F-49BA-B846-9EDB6DBC99D4}" type="presParOf" srcId="{F811933D-E71E-45F3-BE87-39E55076F0CA}" destId="{473F257D-2373-4385-A5AF-0B192A24B85F}" srcOrd="0" destOrd="0" presId="urn:microsoft.com/office/officeart/2005/8/layout/hierarchy1"/>
    <dgm:cxn modelId="{25543B11-F547-4E49-92B9-C33A2ECEE72C}" type="presParOf" srcId="{F811933D-E71E-45F3-BE87-39E55076F0CA}" destId="{53FB8E86-0BF2-44FE-A490-8E7D37834F95}" srcOrd="1" destOrd="0" presId="urn:microsoft.com/office/officeart/2005/8/layout/hierarchy1"/>
    <dgm:cxn modelId="{C3D5EF16-4D69-4A90-9F54-ECE80245007C}" type="presParOf" srcId="{5C149011-5B43-4E6A-96AC-146EBB71DF04}" destId="{12296AFF-8544-49C9-ABBB-A196D9F2E94A}" srcOrd="1" destOrd="0" presId="urn:microsoft.com/office/officeart/2005/8/layout/hierarchy1"/>
    <dgm:cxn modelId="{B60D8885-D544-4E4A-BE64-9C1C36F4AE14}" type="presParOf" srcId="{DE599D50-F9C3-4DCB-83F1-69BDDC6F12A1}" destId="{95E6868D-20AA-44EB-9EE5-8DF4754DE7B5}" srcOrd="1" destOrd="0" presId="urn:microsoft.com/office/officeart/2005/8/layout/hierarchy1"/>
    <dgm:cxn modelId="{966F17E9-3D8E-41F5-82A6-F0EBF2703957}" type="presParOf" srcId="{95E6868D-20AA-44EB-9EE5-8DF4754DE7B5}" destId="{BF66B0F1-432E-4FC4-90DB-D2CDD96D128A}" srcOrd="0" destOrd="0" presId="urn:microsoft.com/office/officeart/2005/8/layout/hierarchy1"/>
    <dgm:cxn modelId="{F36ED166-5D0B-4F16-97EB-9C8B247F18F5}" type="presParOf" srcId="{BF66B0F1-432E-4FC4-90DB-D2CDD96D128A}" destId="{F3E10BEE-9117-40F3-A8A1-B062EFEA04BD}" srcOrd="0" destOrd="0" presId="urn:microsoft.com/office/officeart/2005/8/layout/hierarchy1"/>
    <dgm:cxn modelId="{945887E4-629E-4E2E-9FFA-6DB1CC1B8EA6}" type="presParOf" srcId="{BF66B0F1-432E-4FC4-90DB-D2CDD96D128A}" destId="{E94687DF-B517-4B0E-A4FA-609E0C042B5F}" srcOrd="1" destOrd="0" presId="urn:microsoft.com/office/officeart/2005/8/layout/hierarchy1"/>
    <dgm:cxn modelId="{4DE8AD08-4CED-4277-8797-CF40A07AB9FA}" type="presParOf" srcId="{95E6868D-20AA-44EB-9EE5-8DF4754DE7B5}" destId="{27587FFF-F61B-434A-AF83-981FDD5DF0CA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557ECA8-646D-4F1A-A14F-2ABE00603F29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DF999B71-61A5-46C5-A26D-725E13C27AAE}">
      <dgm:prSet/>
      <dgm:spPr/>
      <dgm:t>
        <a:bodyPr/>
        <a:lstStyle/>
        <a:p>
          <a:r>
            <a:rPr lang="en-US"/>
            <a:t>Models: Logistic Regression and Random Forest.</a:t>
          </a:r>
        </a:p>
      </dgm:t>
    </dgm:pt>
    <dgm:pt modelId="{74DAC3D5-AD1F-4A40-B073-E024F216E238}" type="parTrans" cxnId="{D8D489C8-7B03-47E2-9E7C-BCA7F04CF161}">
      <dgm:prSet/>
      <dgm:spPr/>
      <dgm:t>
        <a:bodyPr/>
        <a:lstStyle/>
        <a:p>
          <a:endParaRPr lang="en-US"/>
        </a:p>
      </dgm:t>
    </dgm:pt>
    <dgm:pt modelId="{AB784B72-76DA-471A-B166-6EDDB2481EE9}" type="sibTrans" cxnId="{D8D489C8-7B03-47E2-9E7C-BCA7F04CF161}">
      <dgm:prSet/>
      <dgm:spPr/>
      <dgm:t>
        <a:bodyPr/>
        <a:lstStyle/>
        <a:p>
          <a:endParaRPr lang="en-US"/>
        </a:p>
      </dgm:t>
    </dgm:pt>
    <dgm:pt modelId="{9BCB6335-4E2B-443D-8E3D-3D71574BF08D}">
      <dgm:prSet/>
      <dgm:spPr/>
      <dgm:t>
        <a:bodyPr/>
        <a:lstStyle/>
        <a:p>
          <a:r>
            <a:rPr lang="en-US"/>
            <a:t>Preprocessing: Encoding, scaling, stratified train-test split. </a:t>
          </a:r>
          <a:r>
            <a:rPr lang="en-US" i="1"/>
            <a:t>(Brownlee, 2020; Van Dorpe, 2018; Galarnyk, 2025)</a:t>
          </a:r>
          <a:endParaRPr lang="en-US"/>
        </a:p>
      </dgm:t>
    </dgm:pt>
    <dgm:pt modelId="{F381F952-19A9-4BC9-987E-EB0748131AD0}" type="parTrans" cxnId="{AE9B2D46-4CDA-41CC-9A8A-3AC9FEA92023}">
      <dgm:prSet/>
      <dgm:spPr/>
      <dgm:t>
        <a:bodyPr/>
        <a:lstStyle/>
        <a:p>
          <a:endParaRPr lang="en-US"/>
        </a:p>
      </dgm:t>
    </dgm:pt>
    <dgm:pt modelId="{F7907722-D7ED-4895-863C-51639F09CB72}" type="sibTrans" cxnId="{AE9B2D46-4CDA-41CC-9A8A-3AC9FEA92023}">
      <dgm:prSet/>
      <dgm:spPr/>
      <dgm:t>
        <a:bodyPr/>
        <a:lstStyle/>
        <a:p>
          <a:endParaRPr lang="en-US"/>
        </a:p>
      </dgm:t>
    </dgm:pt>
    <dgm:pt modelId="{DB0D6467-4EE9-490B-B377-892F77D0C0F9}" type="pres">
      <dgm:prSet presAssocID="{3557ECA8-646D-4F1A-A14F-2ABE00603F29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1B861354-ED13-405D-A045-2067354B7DF4}" type="pres">
      <dgm:prSet presAssocID="{DF999B71-61A5-46C5-A26D-725E13C27AAE}" presName="hierRoot1" presStyleCnt="0"/>
      <dgm:spPr/>
    </dgm:pt>
    <dgm:pt modelId="{D3D7CDA6-390C-4E0B-BBA1-1E7EF5F00071}" type="pres">
      <dgm:prSet presAssocID="{DF999B71-61A5-46C5-A26D-725E13C27AAE}" presName="composite" presStyleCnt="0"/>
      <dgm:spPr/>
    </dgm:pt>
    <dgm:pt modelId="{AE226CA0-DA3A-4C4D-B84C-741226584206}" type="pres">
      <dgm:prSet presAssocID="{DF999B71-61A5-46C5-A26D-725E13C27AAE}" presName="background" presStyleLbl="node0" presStyleIdx="0" presStyleCnt="2"/>
      <dgm:spPr/>
    </dgm:pt>
    <dgm:pt modelId="{95AA5D37-3533-4D39-956F-15711FCA6A12}" type="pres">
      <dgm:prSet presAssocID="{DF999B71-61A5-46C5-A26D-725E13C27AAE}" presName="text" presStyleLbl="fgAcc0" presStyleIdx="0" presStyleCnt="2">
        <dgm:presLayoutVars>
          <dgm:chPref val="3"/>
        </dgm:presLayoutVars>
      </dgm:prSet>
      <dgm:spPr/>
    </dgm:pt>
    <dgm:pt modelId="{ACB07575-58A2-4132-8C4A-323D1AC86F06}" type="pres">
      <dgm:prSet presAssocID="{DF999B71-61A5-46C5-A26D-725E13C27AAE}" presName="hierChild2" presStyleCnt="0"/>
      <dgm:spPr/>
    </dgm:pt>
    <dgm:pt modelId="{34D2F5C7-06C8-4EC6-BD33-C1647347F5C3}" type="pres">
      <dgm:prSet presAssocID="{9BCB6335-4E2B-443D-8E3D-3D71574BF08D}" presName="hierRoot1" presStyleCnt="0"/>
      <dgm:spPr/>
    </dgm:pt>
    <dgm:pt modelId="{6F948647-0D44-4188-9F79-F411A191660D}" type="pres">
      <dgm:prSet presAssocID="{9BCB6335-4E2B-443D-8E3D-3D71574BF08D}" presName="composite" presStyleCnt="0"/>
      <dgm:spPr/>
    </dgm:pt>
    <dgm:pt modelId="{95CF4260-C465-473C-A7D2-6BCA1F43571A}" type="pres">
      <dgm:prSet presAssocID="{9BCB6335-4E2B-443D-8E3D-3D71574BF08D}" presName="background" presStyleLbl="node0" presStyleIdx="1" presStyleCnt="2"/>
      <dgm:spPr/>
    </dgm:pt>
    <dgm:pt modelId="{F3C4DC7A-09C1-4808-927E-44030444055E}" type="pres">
      <dgm:prSet presAssocID="{9BCB6335-4E2B-443D-8E3D-3D71574BF08D}" presName="text" presStyleLbl="fgAcc0" presStyleIdx="1" presStyleCnt="2">
        <dgm:presLayoutVars>
          <dgm:chPref val="3"/>
        </dgm:presLayoutVars>
      </dgm:prSet>
      <dgm:spPr/>
    </dgm:pt>
    <dgm:pt modelId="{66C03861-0B63-4F98-A8ED-E294415C5558}" type="pres">
      <dgm:prSet presAssocID="{9BCB6335-4E2B-443D-8E3D-3D71574BF08D}" presName="hierChild2" presStyleCnt="0"/>
      <dgm:spPr/>
    </dgm:pt>
  </dgm:ptLst>
  <dgm:cxnLst>
    <dgm:cxn modelId="{AE9B2D46-4CDA-41CC-9A8A-3AC9FEA92023}" srcId="{3557ECA8-646D-4F1A-A14F-2ABE00603F29}" destId="{9BCB6335-4E2B-443D-8E3D-3D71574BF08D}" srcOrd="1" destOrd="0" parTransId="{F381F952-19A9-4BC9-987E-EB0748131AD0}" sibTransId="{F7907722-D7ED-4895-863C-51639F09CB72}"/>
    <dgm:cxn modelId="{645BB476-42AF-4F0C-A589-4CB8F6C347EA}" type="presOf" srcId="{3557ECA8-646D-4F1A-A14F-2ABE00603F29}" destId="{DB0D6467-4EE9-490B-B377-892F77D0C0F9}" srcOrd="0" destOrd="0" presId="urn:microsoft.com/office/officeart/2005/8/layout/hierarchy1"/>
    <dgm:cxn modelId="{D8D489C8-7B03-47E2-9E7C-BCA7F04CF161}" srcId="{3557ECA8-646D-4F1A-A14F-2ABE00603F29}" destId="{DF999B71-61A5-46C5-A26D-725E13C27AAE}" srcOrd="0" destOrd="0" parTransId="{74DAC3D5-AD1F-4A40-B073-E024F216E238}" sibTransId="{AB784B72-76DA-471A-B166-6EDDB2481EE9}"/>
    <dgm:cxn modelId="{712C86DC-D67E-49DB-8518-ADD5D922CC54}" type="presOf" srcId="{9BCB6335-4E2B-443D-8E3D-3D71574BF08D}" destId="{F3C4DC7A-09C1-4808-927E-44030444055E}" srcOrd="0" destOrd="0" presId="urn:microsoft.com/office/officeart/2005/8/layout/hierarchy1"/>
    <dgm:cxn modelId="{1E62DBF4-56A2-4261-8C2E-D62405C9D416}" type="presOf" srcId="{DF999B71-61A5-46C5-A26D-725E13C27AAE}" destId="{95AA5D37-3533-4D39-956F-15711FCA6A12}" srcOrd="0" destOrd="0" presId="urn:microsoft.com/office/officeart/2005/8/layout/hierarchy1"/>
    <dgm:cxn modelId="{3D6E59A8-E280-43CE-A4BC-33F72BCF4DE9}" type="presParOf" srcId="{DB0D6467-4EE9-490B-B377-892F77D0C0F9}" destId="{1B861354-ED13-405D-A045-2067354B7DF4}" srcOrd="0" destOrd="0" presId="urn:microsoft.com/office/officeart/2005/8/layout/hierarchy1"/>
    <dgm:cxn modelId="{234F2378-8CDB-4510-8F5B-1923F178AAA3}" type="presParOf" srcId="{1B861354-ED13-405D-A045-2067354B7DF4}" destId="{D3D7CDA6-390C-4E0B-BBA1-1E7EF5F00071}" srcOrd="0" destOrd="0" presId="urn:microsoft.com/office/officeart/2005/8/layout/hierarchy1"/>
    <dgm:cxn modelId="{D5BAB7E9-E362-473B-946D-7B69350E8FEF}" type="presParOf" srcId="{D3D7CDA6-390C-4E0B-BBA1-1E7EF5F00071}" destId="{AE226CA0-DA3A-4C4D-B84C-741226584206}" srcOrd="0" destOrd="0" presId="urn:microsoft.com/office/officeart/2005/8/layout/hierarchy1"/>
    <dgm:cxn modelId="{1134E42A-0582-46D4-B1ED-B1E470C0DC79}" type="presParOf" srcId="{D3D7CDA6-390C-4E0B-BBA1-1E7EF5F00071}" destId="{95AA5D37-3533-4D39-956F-15711FCA6A12}" srcOrd="1" destOrd="0" presId="urn:microsoft.com/office/officeart/2005/8/layout/hierarchy1"/>
    <dgm:cxn modelId="{E9B84DB0-E554-4D85-AD44-67F44F00593D}" type="presParOf" srcId="{1B861354-ED13-405D-A045-2067354B7DF4}" destId="{ACB07575-58A2-4132-8C4A-323D1AC86F06}" srcOrd="1" destOrd="0" presId="urn:microsoft.com/office/officeart/2005/8/layout/hierarchy1"/>
    <dgm:cxn modelId="{0FD6FAE1-7FBC-4789-8F99-87DC1CC49AF5}" type="presParOf" srcId="{DB0D6467-4EE9-490B-B377-892F77D0C0F9}" destId="{34D2F5C7-06C8-4EC6-BD33-C1647347F5C3}" srcOrd="1" destOrd="0" presId="urn:microsoft.com/office/officeart/2005/8/layout/hierarchy1"/>
    <dgm:cxn modelId="{7503470E-D473-4A47-9A97-CB1C3454DBAA}" type="presParOf" srcId="{34D2F5C7-06C8-4EC6-BD33-C1647347F5C3}" destId="{6F948647-0D44-4188-9F79-F411A191660D}" srcOrd="0" destOrd="0" presId="urn:microsoft.com/office/officeart/2005/8/layout/hierarchy1"/>
    <dgm:cxn modelId="{82CA8CCE-BB1E-43D4-9D19-424AE57C527B}" type="presParOf" srcId="{6F948647-0D44-4188-9F79-F411A191660D}" destId="{95CF4260-C465-473C-A7D2-6BCA1F43571A}" srcOrd="0" destOrd="0" presId="urn:microsoft.com/office/officeart/2005/8/layout/hierarchy1"/>
    <dgm:cxn modelId="{614BFD58-B2EA-4485-9E40-CF83EE681ADD}" type="presParOf" srcId="{6F948647-0D44-4188-9F79-F411A191660D}" destId="{F3C4DC7A-09C1-4808-927E-44030444055E}" srcOrd="1" destOrd="0" presId="urn:microsoft.com/office/officeart/2005/8/layout/hierarchy1"/>
    <dgm:cxn modelId="{41E257FB-2E88-429E-ADBA-1AC62E5258E6}" type="presParOf" srcId="{34D2F5C7-06C8-4EC6-BD33-C1647347F5C3}" destId="{66C03861-0B63-4F98-A8ED-E294415C5558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ABC23F6-5FC8-4228-BCDD-EC5D705B4E11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4A1FA134-BC6B-46FC-9F6D-780EAB2941DE}">
      <dgm:prSet/>
      <dgm:spPr/>
      <dgm:t>
        <a:bodyPr/>
        <a:lstStyle/>
        <a:p>
          <a:pPr>
            <a:defRPr cap="all"/>
          </a:pPr>
          <a:r>
            <a:rPr lang="en-US"/>
            <a:t>Source: Kaggle Bank Marketing dataset (~41,176 rows).</a:t>
          </a:r>
        </a:p>
      </dgm:t>
    </dgm:pt>
    <dgm:pt modelId="{F579A886-F76A-47E8-8E0F-4459D5C1F153}" type="parTrans" cxnId="{C8197582-F6E2-4CD2-9E7B-574D0ECC0785}">
      <dgm:prSet/>
      <dgm:spPr/>
      <dgm:t>
        <a:bodyPr/>
        <a:lstStyle/>
        <a:p>
          <a:endParaRPr lang="en-US"/>
        </a:p>
      </dgm:t>
    </dgm:pt>
    <dgm:pt modelId="{60C741ED-423F-4287-8631-C060571F72BC}" type="sibTrans" cxnId="{C8197582-F6E2-4CD2-9E7B-574D0ECC0785}">
      <dgm:prSet/>
      <dgm:spPr/>
      <dgm:t>
        <a:bodyPr/>
        <a:lstStyle/>
        <a:p>
          <a:endParaRPr lang="en-US"/>
        </a:p>
      </dgm:t>
    </dgm:pt>
    <dgm:pt modelId="{20893E11-A519-4BFC-8550-383BB130A211}">
      <dgm:prSet/>
      <dgm:spPr/>
      <dgm:t>
        <a:bodyPr/>
        <a:lstStyle/>
        <a:p>
          <a:pPr>
            <a:defRPr cap="all"/>
          </a:pPr>
          <a:r>
            <a:rPr lang="en-US"/>
            <a:t>Features: Demographics, campaign history, economic indicators.</a:t>
          </a:r>
        </a:p>
      </dgm:t>
    </dgm:pt>
    <dgm:pt modelId="{53743A8E-62FC-4F0A-ACA1-8403B5C1C95A}" type="parTrans" cxnId="{F89829EF-8DCB-475A-8B71-F30D267AA284}">
      <dgm:prSet/>
      <dgm:spPr/>
      <dgm:t>
        <a:bodyPr/>
        <a:lstStyle/>
        <a:p>
          <a:endParaRPr lang="en-US"/>
        </a:p>
      </dgm:t>
    </dgm:pt>
    <dgm:pt modelId="{711649C6-D946-46F8-9FBE-C33177D47F58}" type="sibTrans" cxnId="{F89829EF-8DCB-475A-8B71-F30D267AA284}">
      <dgm:prSet/>
      <dgm:spPr/>
      <dgm:t>
        <a:bodyPr/>
        <a:lstStyle/>
        <a:p>
          <a:endParaRPr lang="en-US"/>
        </a:p>
      </dgm:t>
    </dgm:pt>
    <dgm:pt modelId="{617FF548-AC10-4698-BD76-B0C9EDFFC8F0}">
      <dgm:prSet/>
      <dgm:spPr/>
      <dgm:t>
        <a:bodyPr/>
        <a:lstStyle/>
        <a:p>
          <a:pPr>
            <a:defRPr cap="all"/>
          </a:pPr>
          <a:r>
            <a:rPr lang="en-US"/>
            <a:t>Target: response_binary (0 = No, 1 = Yes).</a:t>
          </a:r>
        </a:p>
      </dgm:t>
    </dgm:pt>
    <dgm:pt modelId="{A1FA3EEB-F4A1-4738-9D4B-12C7144AE11B}" type="parTrans" cxnId="{14F0B729-47AD-429D-8E10-98245856482E}">
      <dgm:prSet/>
      <dgm:spPr/>
      <dgm:t>
        <a:bodyPr/>
        <a:lstStyle/>
        <a:p>
          <a:endParaRPr lang="en-US"/>
        </a:p>
      </dgm:t>
    </dgm:pt>
    <dgm:pt modelId="{C1C875C7-85D4-4CD3-BD85-C3CA7C6E7A3E}" type="sibTrans" cxnId="{14F0B729-47AD-429D-8E10-98245856482E}">
      <dgm:prSet/>
      <dgm:spPr/>
      <dgm:t>
        <a:bodyPr/>
        <a:lstStyle/>
        <a:p>
          <a:endParaRPr lang="en-US"/>
        </a:p>
      </dgm:t>
    </dgm:pt>
    <dgm:pt modelId="{61628A13-CC1F-49C9-914A-BDF12EDFCBEC}" type="pres">
      <dgm:prSet presAssocID="{FABC23F6-5FC8-4228-BCDD-EC5D705B4E11}" presName="root" presStyleCnt="0">
        <dgm:presLayoutVars>
          <dgm:dir/>
          <dgm:resizeHandles val="exact"/>
        </dgm:presLayoutVars>
      </dgm:prSet>
      <dgm:spPr/>
    </dgm:pt>
    <dgm:pt modelId="{DF6725F7-D50B-4EBE-ACE3-AE68D96819D7}" type="pres">
      <dgm:prSet presAssocID="{4A1FA134-BC6B-46FC-9F6D-780EAB2941DE}" presName="compNode" presStyleCnt="0"/>
      <dgm:spPr/>
    </dgm:pt>
    <dgm:pt modelId="{1533B71E-A327-4FA5-97CD-2D909EF1875D}" type="pres">
      <dgm:prSet presAssocID="{4A1FA134-BC6B-46FC-9F6D-780EAB2941DE}" presName="iconBgRect" presStyleLbl="bgShp" presStyleIdx="0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C64A963A-24EE-462A-B7D3-EF40F382E904}" type="pres">
      <dgm:prSet presAssocID="{4A1FA134-BC6B-46FC-9F6D-780EAB2941DE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A3FA3448-EF85-4559-9E01-A4FF29B13E5A}" type="pres">
      <dgm:prSet presAssocID="{4A1FA134-BC6B-46FC-9F6D-780EAB2941DE}" presName="spaceRect" presStyleCnt="0"/>
      <dgm:spPr/>
    </dgm:pt>
    <dgm:pt modelId="{12D6E54F-DF6A-4C71-877F-B0D66E91BECE}" type="pres">
      <dgm:prSet presAssocID="{4A1FA134-BC6B-46FC-9F6D-780EAB2941DE}" presName="textRect" presStyleLbl="revTx" presStyleIdx="0" presStyleCnt="3">
        <dgm:presLayoutVars>
          <dgm:chMax val="1"/>
          <dgm:chPref val="1"/>
        </dgm:presLayoutVars>
      </dgm:prSet>
      <dgm:spPr/>
    </dgm:pt>
    <dgm:pt modelId="{D95A0D69-516B-47BE-8580-22222033263C}" type="pres">
      <dgm:prSet presAssocID="{60C741ED-423F-4287-8631-C060571F72BC}" presName="sibTrans" presStyleCnt="0"/>
      <dgm:spPr/>
    </dgm:pt>
    <dgm:pt modelId="{5033E27A-39BB-4029-8139-8D1D4153A601}" type="pres">
      <dgm:prSet presAssocID="{20893E11-A519-4BFC-8550-383BB130A211}" presName="compNode" presStyleCnt="0"/>
      <dgm:spPr/>
    </dgm:pt>
    <dgm:pt modelId="{8DD62DC9-B0F8-41DA-B511-887BBAD5CBFC}" type="pres">
      <dgm:prSet presAssocID="{20893E11-A519-4BFC-8550-383BB130A211}" presName="iconBgRect" presStyleLbl="bgShp" presStyleIdx="1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5A9A9AE0-F493-462E-91F0-CA2A702B2AF6}" type="pres">
      <dgm:prSet presAssocID="{20893E11-A519-4BFC-8550-383BB130A211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A0BC9B3D-0979-4B75-AE1D-E4D3B4C5891B}" type="pres">
      <dgm:prSet presAssocID="{20893E11-A519-4BFC-8550-383BB130A211}" presName="spaceRect" presStyleCnt="0"/>
      <dgm:spPr/>
    </dgm:pt>
    <dgm:pt modelId="{7219C613-A61F-4C67-939E-B3F5EE8A76EF}" type="pres">
      <dgm:prSet presAssocID="{20893E11-A519-4BFC-8550-383BB130A211}" presName="textRect" presStyleLbl="revTx" presStyleIdx="1" presStyleCnt="3">
        <dgm:presLayoutVars>
          <dgm:chMax val="1"/>
          <dgm:chPref val="1"/>
        </dgm:presLayoutVars>
      </dgm:prSet>
      <dgm:spPr/>
    </dgm:pt>
    <dgm:pt modelId="{ADAB5D4C-7D1A-41D1-9BB2-0DAA6C54DC4C}" type="pres">
      <dgm:prSet presAssocID="{711649C6-D946-46F8-9FBE-C33177D47F58}" presName="sibTrans" presStyleCnt="0"/>
      <dgm:spPr/>
    </dgm:pt>
    <dgm:pt modelId="{968CC3E0-5CF7-49D6-A582-C0C3E216C63C}" type="pres">
      <dgm:prSet presAssocID="{617FF548-AC10-4698-BD76-B0C9EDFFC8F0}" presName="compNode" presStyleCnt="0"/>
      <dgm:spPr/>
    </dgm:pt>
    <dgm:pt modelId="{45F8E8DE-B004-4558-B072-9D2708E8C8C4}" type="pres">
      <dgm:prSet presAssocID="{617FF548-AC10-4698-BD76-B0C9EDFFC8F0}" presName="iconBgRect" presStyleLbl="bgShp" presStyleIdx="2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FBEB750D-C642-4F4A-9079-2FA4E11AB18D}" type="pres">
      <dgm:prSet presAssocID="{617FF548-AC10-4698-BD76-B0C9EDFFC8F0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A44D3B56-54EE-484F-9390-13B8C413D880}" type="pres">
      <dgm:prSet presAssocID="{617FF548-AC10-4698-BD76-B0C9EDFFC8F0}" presName="spaceRect" presStyleCnt="0"/>
      <dgm:spPr/>
    </dgm:pt>
    <dgm:pt modelId="{24F9CF9F-D888-4BA7-A606-34CE86D74076}" type="pres">
      <dgm:prSet presAssocID="{617FF548-AC10-4698-BD76-B0C9EDFFC8F0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14F0B729-47AD-429D-8E10-98245856482E}" srcId="{FABC23F6-5FC8-4228-BCDD-EC5D705B4E11}" destId="{617FF548-AC10-4698-BD76-B0C9EDFFC8F0}" srcOrd="2" destOrd="0" parTransId="{A1FA3EEB-F4A1-4738-9D4B-12C7144AE11B}" sibTransId="{C1C875C7-85D4-4CD3-BD85-C3CA7C6E7A3E}"/>
    <dgm:cxn modelId="{FB695767-55A3-41EF-81E4-795F2B2FDA62}" type="presOf" srcId="{20893E11-A519-4BFC-8550-383BB130A211}" destId="{7219C613-A61F-4C67-939E-B3F5EE8A76EF}" srcOrd="0" destOrd="0" presId="urn:microsoft.com/office/officeart/2018/5/layout/IconLeafLabelList"/>
    <dgm:cxn modelId="{C8197582-F6E2-4CD2-9E7B-574D0ECC0785}" srcId="{FABC23F6-5FC8-4228-BCDD-EC5D705B4E11}" destId="{4A1FA134-BC6B-46FC-9F6D-780EAB2941DE}" srcOrd="0" destOrd="0" parTransId="{F579A886-F76A-47E8-8E0F-4459D5C1F153}" sibTransId="{60C741ED-423F-4287-8631-C060571F72BC}"/>
    <dgm:cxn modelId="{E60F8CA1-0D8F-498C-BA16-268261C3625B}" type="presOf" srcId="{FABC23F6-5FC8-4228-BCDD-EC5D705B4E11}" destId="{61628A13-CC1F-49C9-914A-BDF12EDFCBEC}" srcOrd="0" destOrd="0" presId="urn:microsoft.com/office/officeart/2018/5/layout/IconLeafLabelList"/>
    <dgm:cxn modelId="{D3267BD3-C403-4C0C-8A92-7C5DF48384CE}" type="presOf" srcId="{4A1FA134-BC6B-46FC-9F6D-780EAB2941DE}" destId="{12D6E54F-DF6A-4C71-877F-B0D66E91BECE}" srcOrd="0" destOrd="0" presId="urn:microsoft.com/office/officeart/2018/5/layout/IconLeafLabelList"/>
    <dgm:cxn modelId="{F89829EF-8DCB-475A-8B71-F30D267AA284}" srcId="{FABC23F6-5FC8-4228-BCDD-EC5D705B4E11}" destId="{20893E11-A519-4BFC-8550-383BB130A211}" srcOrd="1" destOrd="0" parTransId="{53743A8E-62FC-4F0A-ACA1-8403B5C1C95A}" sibTransId="{711649C6-D946-46F8-9FBE-C33177D47F58}"/>
    <dgm:cxn modelId="{E4B1F7F0-8570-4E66-A67E-A47D9937A0B1}" type="presOf" srcId="{617FF548-AC10-4698-BD76-B0C9EDFFC8F0}" destId="{24F9CF9F-D888-4BA7-A606-34CE86D74076}" srcOrd="0" destOrd="0" presId="urn:microsoft.com/office/officeart/2018/5/layout/IconLeafLabelList"/>
    <dgm:cxn modelId="{6F32AC88-B437-454D-B8D4-34EF9D5DAA57}" type="presParOf" srcId="{61628A13-CC1F-49C9-914A-BDF12EDFCBEC}" destId="{DF6725F7-D50B-4EBE-ACE3-AE68D96819D7}" srcOrd="0" destOrd="0" presId="urn:microsoft.com/office/officeart/2018/5/layout/IconLeafLabelList"/>
    <dgm:cxn modelId="{70CF83D8-6FBC-4913-8B01-FF9FBE3F615F}" type="presParOf" srcId="{DF6725F7-D50B-4EBE-ACE3-AE68D96819D7}" destId="{1533B71E-A327-4FA5-97CD-2D909EF1875D}" srcOrd="0" destOrd="0" presId="urn:microsoft.com/office/officeart/2018/5/layout/IconLeafLabelList"/>
    <dgm:cxn modelId="{D9F0D137-91F0-4740-B412-73DE718C8B7D}" type="presParOf" srcId="{DF6725F7-D50B-4EBE-ACE3-AE68D96819D7}" destId="{C64A963A-24EE-462A-B7D3-EF40F382E904}" srcOrd="1" destOrd="0" presId="urn:microsoft.com/office/officeart/2018/5/layout/IconLeafLabelList"/>
    <dgm:cxn modelId="{B36CFDD5-3690-42B3-B020-D209366CB2C7}" type="presParOf" srcId="{DF6725F7-D50B-4EBE-ACE3-AE68D96819D7}" destId="{A3FA3448-EF85-4559-9E01-A4FF29B13E5A}" srcOrd="2" destOrd="0" presId="urn:microsoft.com/office/officeart/2018/5/layout/IconLeafLabelList"/>
    <dgm:cxn modelId="{AB937ABA-3767-4100-947B-4121BDF81FB7}" type="presParOf" srcId="{DF6725F7-D50B-4EBE-ACE3-AE68D96819D7}" destId="{12D6E54F-DF6A-4C71-877F-B0D66E91BECE}" srcOrd="3" destOrd="0" presId="urn:microsoft.com/office/officeart/2018/5/layout/IconLeafLabelList"/>
    <dgm:cxn modelId="{F250F7AF-E90C-45B5-B149-C71CB58B6D74}" type="presParOf" srcId="{61628A13-CC1F-49C9-914A-BDF12EDFCBEC}" destId="{D95A0D69-516B-47BE-8580-22222033263C}" srcOrd="1" destOrd="0" presId="urn:microsoft.com/office/officeart/2018/5/layout/IconLeafLabelList"/>
    <dgm:cxn modelId="{3F7E0817-0E9F-4728-83B2-FD07C566A11C}" type="presParOf" srcId="{61628A13-CC1F-49C9-914A-BDF12EDFCBEC}" destId="{5033E27A-39BB-4029-8139-8D1D4153A601}" srcOrd="2" destOrd="0" presId="urn:microsoft.com/office/officeart/2018/5/layout/IconLeafLabelList"/>
    <dgm:cxn modelId="{1360C14F-8D54-45C2-8BF3-6F66A9DB47B5}" type="presParOf" srcId="{5033E27A-39BB-4029-8139-8D1D4153A601}" destId="{8DD62DC9-B0F8-41DA-B511-887BBAD5CBFC}" srcOrd="0" destOrd="0" presId="urn:microsoft.com/office/officeart/2018/5/layout/IconLeafLabelList"/>
    <dgm:cxn modelId="{70CA4F76-DA79-4322-B1DA-3B2967D9C4D1}" type="presParOf" srcId="{5033E27A-39BB-4029-8139-8D1D4153A601}" destId="{5A9A9AE0-F493-462E-91F0-CA2A702B2AF6}" srcOrd="1" destOrd="0" presId="urn:microsoft.com/office/officeart/2018/5/layout/IconLeafLabelList"/>
    <dgm:cxn modelId="{7C650367-346B-4C50-A4DB-3CCC16594534}" type="presParOf" srcId="{5033E27A-39BB-4029-8139-8D1D4153A601}" destId="{A0BC9B3D-0979-4B75-AE1D-E4D3B4C5891B}" srcOrd="2" destOrd="0" presId="urn:microsoft.com/office/officeart/2018/5/layout/IconLeafLabelList"/>
    <dgm:cxn modelId="{76810566-F572-4B5E-8E8F-C33DC2FBD6AD}" type="presParOf" srcId="{5033E27A-39BB-4029-8139-8D1D4153A601}" destId="{7219C613-A61F-4C67-939E-B3F5EE8A76EF}" srcOrd="3" destOrd="0" presId="urn:microsoft.com/office/officeart/2018/5/layout/IconLeafLabelList"/>
    <dgm:cxn modelId="{777E7F28-0F14-4D51-B1E7-659CB45BF14D}" type="presParOf" srcId="{61628A13-CC1F-49C9-914A-BDF12EDFCBEC}" destId="{ADAB5D4C-7D1A-41D1-9BB2-0DAA6C54DC4C}" srcOrd="3" destOrd="0" presId="urn:microsoft.com/office/officeart/2018/5/layout/IconLeafLabelList"/>
    <dgm:cxn modelId="{92EBB0C5-D3D1-402F-978D-B72B6BA272AF}" type="presParOf" srcId="{61628A13-CC1F-49C9-914A-BDF12EDFCBEC}" destId="{968CC3E0-5CF7-49D6-A582-C0C3E216C63C}" srcOrd="4" destOrd="0" presId="urn:microsoft.com/office/officeart/2018/5/layout/IconLeafLabelList"/>
    <dgm:cxn modelId="{39A88D8B-FF96-481C-B9C5-D69A2FD57531}" type="presParOf" srcId="{968CC3E0-5CF7-49D6-A582-C0C3E216C63C}" destId="{45F8E8DE-B004-4558-B072-9D2708E8C8C4}" srcOrd="0" destOrd="0" presId="urn:microsoft.com/office/officeart/2018/5/layout/IconLeafLabelList"/>
    <dgm:cxn modelId="{BFECF4D2-6A38-4252-AD77-6CD797DB9BAA}" type="presParOf" srcId="{968CC3E0-5CF7-49D6-A582-C0C3E216C63C}" destId="{FBEB750D-C642-4F4A-9079-2FA4E11AB18D}" srcOrd="1" destOrd="0" presId="urn:microsoft.com/office/officeart/2018/5/layout/IconLeafLabelList"/>
    <dgm:cxn modelId="{2EB82612-E69C-4FE5-AF24-455D78A29932}" type="presParOf" srcId="{968CC3E0-5CF7-49D6-A582-C0C3E216C63C}" destId="{A44D3B56-54EE-484F-9390-13B8C413D880}" srcOrd="2" destOrd="0" presId="urn:microsoft.com/office/officeart/2018/5/layout/IconLeafLabelList"/>
    <dgm:cxn modelId="{21FE2324-4F2E-4F2F-BCDA-A1E25D07823A}" type="presParOf" srcId="{968CC3E0-5CF7-49D6-A582-C0C3E216C63C}" destId="{24F9CF9F-D888-4BA7-A606-34CE86D74076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0FA37C3-6772-4B1F-848E-11DAF75E0246}" type="doc">
      <dgm:prSet loTypeId="urn:microsoft.com/office/officeart/2005/8/layout/process5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EA51D9CB-7C3F-457A-AF2B-467A3CF87B66}">
      <dgm:prSet/>
      <dgm:spPr/>
      <dgm:t>
        <a:bodyPr/>
        <a:lstStyle/>
        <a:p>
          <a:r>
            <a:rPr lang="en-US"/>
            <a:t>One-hot encoding for categorical variables. </a:t>
          </a:r>
          <a:r>
            <a:rPr lang="en-US" i="1"/>
            <a:t>(Van Dorpe, 2018)</a:t>
          </a:r>
          <a:endParaRPr lang="en-US"/>
        </a:p>
      </dgm:t>
    </dgm:pt>
    <dgm:pt modelId="{36106144-06C3-402D-8002-41EB215D40C0}" type="parTrans" cxnId="{6C11584C-7C4A-435B-85D5-185579135F1C}">
      <dgm:prSet/>
      <dgm:spPr/>
      <dgm:t>
        <a:bodyPr/>
        <a:lstStyle/>
        <a:p>
          <a:endParaRPr lang="en-US"/>
        </a:p>
      </dgm:t>
    </dgm:pt>
    <dgm:pt modelId="{B74FA924-419A-44EF-A73E-3B73997D719E}" type="sibTrans" cxnId="{6C11584C-7C4A-435B-85D5-185579135F1C}">
      <dgm:prSet/>
      <dgm:spPr/>
      <dgm:t>
        <a:bodyPr/>
        <a:lstStyle/>
        <a:p>
          <a:endParaRPr lang="en-US"/>
        </a:p>
      </dgm:t>
    </dgm:pt>
    <dgm:pt modelId="{B098C2FA-341A-4978-988C-4DB79A9BC066}">
      <dgm:prSet/>
      <dgm:spPr/>
      <dgm:t>
        <a:bodyPr/>
        <a:lstStyle/>
        <a:p>
          <a:r>
            <a:rPr lang="en-US"/>
            <a:t>Standard scaling for numeric features. </a:t>
          </a:r>
          <a:r>
            <a:rPr lang="en-US" i="1"/>
            <a:t>(Galarnyk, 2025)</a:t>
          </a:r>
          <a:endParaRPr lang="en-US"/>
        </a:p>
      </dgm:t>
    </dgm:pt>
    <dgm:pt modelId="{0D99303D-909B-4D62-92B3-3B8D24BB959E}" type="parTrans" cxnId="{FF0C5718-D9CB-4BB3-8F13-C04842708B1A}">
      <dgm:prSet/>
      <dgm:spPr/>
      <dgm:t>
        <a:bodyPr/>
        <a:lstStyle/>
        <a:p>
          <a:endParaRPr lang="en-US"/>
        </a:p>
      </dgm:t>
    </dgm:pt>
    <dgm:pt modelId="{C6E57E0E-1486-4DF7-B708-F06133FC7B00}" type="sibTrans" cxnId="{FF0C5718-D9CB-4BB3-8F13-C04842708B1A}">
      <dgm:prSet/>
      <dgm:spPr/>
      <dgm:t>
        <a:bodyPr/>
        <a:lstStyle/>
        <a:p>
          <a:endParaRPr lang="en-US"/>
        </a:p>
      </dgm:t>
    </dgm:pt>
    <dgm:pt modelId="{45618F57-4649-4FF9-86CD-97C054D66BAF}">
      <dgm:prSet/>
      <dgm:spPr/>
      <dgm:t>
        <a:bodyPr/>
        <a:lstStyle/>
        <a:p>
          <a:r>
            <a:rPr lang="en-US"/>
            <a:t>Train-test split: 70/30 ratio, stratified. </a:t>
          </a:r>
          <a:r>
            <a:rPr lang="en-US" i="1"/>
            <a:t>(Brownlee, 2020; Raheja, 2025)</a:t>
          </a:r>
          <a:endParaRPr lang="en-US"/>
        </a:p>
      </dgm:t>
    </dgm:pt>
    <dgm:pt modelId="{020D4141-2F19-4EBC-A81A-453A21A7C33B}" type="parTrans" cxnId="{9BEAFFAF-C716-4FA7-B54F-2DEF2FBAA5AA}">
      <dgm:prSet/>
      <dgm:spPr/>
      <dgm:t>
        <a:bodyPr/>
        <a:lstStyle/>
        <a:p>
          <a:endParaRPr lang="en-US"/>
        </a:p>
      </dgm:t>
    </dgm:pt>
    <dgm:pt modelId="{F541EB79-7455-48CC-A509-2D75248CD422}" type="sibTrans" cxnId="{9BEAFFAF-C716-4FA7-B54F-2DEF2FBAA5AA}">
      <dgm:prSet/>
      <dgm:spPr/>
      <dgm:t>
        <a:bodyPr/>
        <a:lstStyle/>
        <a:p>
          <a:endParaRPr lang="en-US"/>
        </a:p>
      </dgm:t>
    </dgm:pt>
    <dgm:pt modelId="{A8108FAD-42FF-4F08-AE5E-D1CC0FBDA133}" type="pres">
      <dgm:prSet presAssocID="{F0FA37C3-6772-4B1F-848E-11DAF75E0246}" presName="diagram" presStyleCnt="0">
        <dgm:presLayoutVars>
          <dgm:dir/>
          <dgm:resizeHandles val="exact"/>
        </dgm:presLayoutVars>
      </dgm:prSet>
      <dgm:spPr/>
    </dgm:pt>
    <dgm:pt modelId="{42E008D1-194C-493E-B8CF-0370109BA22A}" type="pres">
      <dgm:prSet presAssocID="{EA51D9CB-7C3F-457A-AF2B-467A3CF87B66}" presName="node" presStyleLbl="node1" presStyleIdx="0" presStyleCnt="3">
        <dgm:presLayoutVars>
          <dgm:bulletEnabled val="1"/>
        </dgm:presLayoutVars>
      </dgm:prSet>
      <dgm:spPr/>
    </dgm:pt>
    <dgm:pt modelId="{7E2E96ED-E89D-43AC-9424-7E0299F90F04}" type="pres">
      <dgm:prSet presAssocID="{B74FA924-419A-44EF-A73E-3B73997D719E}" presName="sibTrans" presStyleLbl="sibTrans2D1" presStyleIdx="0" presStyleCnt="2"/>
      <dgm:spPr/>
    </dgm:pt>
    <dgm:pt modelId="{248B70AD-313D-4CAF-9D4D-A48B735B8F20}" type="pres">
      <dgm:prSet presAssocID="{B74FA924-419A-44EF-A73E-3B73997D719E}" presName="connectorText" presStyleLbl="sibTrans2D1" presStyleIdx="0" presStyleCnt="2"/>
      <dgm:spPr/>
    </dgm:pt>
    <dgm:pt modelId="{18EE8859-0255-46F2-AC14-52CB5B02CA65}" type="pres">
      <dgm:prSet presAssocID="{B098C2FA-341A-4978-988C-4DB79A9BC066}" presName="node" presStyleLbl="node1" presStyleIdx="1" presStyleCnt="3">
        <dgm:presLayoutVars>
          <dgm:bulletEnabled val="1"/>
        </dgm:presLayoutVars>
      </dgm:prSet>
      <dgm:spPr/>
    </dgm:pt>
    <dgm:pt modelId="{89BBACD0-8541-4C82-8D2A-CBCFF9FB26EF}" type="pres">
      <dgm:prSet presAssocID="{C6E57E0E-1486-4DF7-B708-F06133FC7B00}" presName="sibTrans" presStyleLbl="sibTrans2D1" presStyleIdx="1" presStyleCnt="2"/>
      <dgm:spPr/>
    </dgm:pt>
    <dgm:pt modelId="{A8D008C4-8653-4E9A-BFE3-7618B1CA38A5}" type="pres">
      <dgm:prSet presAssocID="{C6E57E0E-1486-4DF7-B708-F06133FC7B00}" presName="connectorText" presStyleLbl="sibTrans2D1" presStyleIdx="1" presStyleCnt="2"/>
      <dgm:spPr/>
    </dgm:pt>
    <dgm:pt modelId="{A8ACAE9E-FE9C-4730-80DB-C96C45D69982}" type="pres">
      <dgm:prSet presAssocID="{45618F57-4649-4FF9-86CD-97C054D66BAF}" presName="node" presStyleLbl="node1" presStyleIdx="2" presStyleCnt="3">
        <dgm:presLayoutVars>
          <dgm:bulletEnabled val="1"/>
        </dgm:presLayoutVars>
      </dgm:prSet>
      <dgm:spPr/>
    </dgm:pt>
  </dgm:ptLst>
  <dgm:cxnLst>
    <dgm:cxn modelId="{42CB0B0D-AE6C-423A-8756-069FEC86E652}" type="presOf" srcId="{F0FA37C3-6772-4B1F-848E-11DAF75E0246}" destId="{A8108FAD-42FF-4F08-AE5E-D1CC0FBDA133}" srcOrd="0" destOrd="0" presId="urn:microsoft.com/office/officeart/2005/8/layout/process5"/>
    <dgm:cxn modelId="{52B70D13-CB99-479A-AEF5-DA7AE28EB323}" type="presOf" srcId="{B74FA924-419A-44EF-A73E-3B73997D719E}" destId="{248B70AD-313D-4CAF-9D4D-A48B735B8F20}" srcOrd="1" destOrd="0" presId="urn:microsoft.com/office/officeart/2005/8/layout/process5"/>
    <dgm:cxn modelId="{FF0C5718-D9CB-4BB3-8F13-C04842708B1A}" srcId="{F0FA37C3-6772-4B1F-848E-11DAF75E0246}" destId="{B098C2FA-341A-4978-988C-4DB79A9BC066}" srcOrd="1" destOrd="0" parTransId="{0D99303D-909B-4D62-92B3-3B8D24BB959E}" sibTransId="{C6E57E0E-1486-4DF7-B708-F06133FC7B00}"/>
    <dgm:cxn modelId="{89A52E1B-D883-4030-9C94-A81C49B304D7}" type="presOf" srcId="{45618F57-4649-4FF9-86CD-97C054D66BAF}" destId="{A8ACAE9E-FE9C-4730-80DB-C96C45D69982}" srcOrd="0" destOrd="0" presId="urn:microsoft.com/office/officeart/2005/8/layout/process5"/>
    <dgm:cxn modelId="{C1C5C75D-9885-4E95-AC37-FE0E3D01AB7F}" type="presOf" srcId="{C6E57E0E-1486-4DF7-B708-F06133FC7B00}" destId="{89BBACD0-8541-4C82-8D2A-CBCFF9FB26EF}" srcOrd="0" destOrd="0" presId="urn:microsoft.com/office/officeart/2005/8/layout/process5"/>
    <dgm:cxn modelId="{6C11584C-7C4A-435B-85D5-185579135F1C}" srcId="{F0FA37C3-6772-4B1F-848E-11DAF75E0246}" destId="{EA51D9CB-7C3F-457A-AF2B-467A3CF87B66}" srcOrd="0" destOrd="0" parTransId="{36106144-06C3-402D-8002-41EB215D40C0}" sibTransId="{B74FA924-419A-44EF-A73E-3B73997D719E}"/>
    <dgm:cxn modelId="{9BEAFFAF-C716-4FA7-B54F-2DEF2FBAA5AA}" srcId="{F0FA37C3-6772-4B1F-848E-11DAF75E0246}" destId="{45618F57-4649-4FF9-86CD-97C054D66BAF}" srcOrd="2" destOrd="0" parTransId="{020D4141-2F19-4EBC-A81A-453A21A7C33B}" sibTransId="{F541EB79-7455-48CC-A509-2D75248CD422}"/>
    <dgm:cxn modelId="{D77C10BC-0333-4590-95FF-6874A71A211E}" type="presOf" srcId="{C6E57E0E-1486-4DF7-B708-F06133FC7B00}" destId="{A8D008C4-8653-4E9A-BFE3-7618B1CA38A5}" srcOrd="1" destOrd="0" presId="urn:microsoft.com/office/officeart/2005/8/layout/process5"/>
    <dgm:cxn modelId="{4010EED8-CCBF-47C8-84CE-AC04AC24348B}" type="presOf" srcId="{B098C2FA-341A-4978-988C-4DB79A9BC066}" destId="{18EE8859-0255-46F2-AC14-52CB5B02CA65}" srcOrd="0" destOrd="0" presId="urn:microsoft.com/office/officeart/2005/8/layout/process5"/>
    <dgm:cxn modelId="{81619ADE-760F-42C9-9631-9A610261A532}" type="presOf" srcId="{EA51D9CB-7C3F-457A-AF2B-467A3CF87B66}" destId="{42E008D1-194C-493E-B8CF-0370109BA22A}" srcOrd="0" destOrd="0" presId="urn:microsoft.com/office/officeart/2005/8/layout/process5"/>
    <dgm:cxn modelId="{E280C2E7-483D-44CA-A94E-CD55A6648685}" type="presOf" srcId="{B74FA924-419A-44EF-A73E-3B73997D719E}" destId="{7E2E96ED-E89D-43AC-9424-7E0299F90F04}" srcOrd="0" destOrd="0" presId="urn:microsoft.com/office/officeart/2005/8/layout/process5"/>
    <dgm:cxn modelId="{CFD4FD15-8368-4E4E-A13E-63B216CC95F6}" type="presParOf" srcId="{A8108FAD-42FF-4F08-AE5E-D1CC0FBDA133}" destId="{42E008D1-194C-493E-B8CF-0370109BA22A}" srcOrd="0" destOrd="0" presId="urn:microsoft.com/office/officeart/2005/8/layout/process5"/>
    <dgm:cxn modelId="{C59D0E79-6198-4B4C-8A2D-2B728FFF6021}" type="presParOf" srcId="{A8108FAD-42FF-4F08-AE5E-D1CC0FBDA133}" destId="{7E2E96ED-E89D-43AC-9424-7E0299F90F04}" srcOrd="1" destOrd="0" presId="urn:microsoft.com/office/officeart/2005/8/layout/process5"/>
    <dgm:cxn modelId="{5344B6F0-E62E-4962-96E2-589BBEA54A26}" type="presParOf" srcId="{7E2E96ED-E89D-43AC-9424-7E0299F90F04}" destId="{248B70AD-313D-4CAF-9D4D-A48B735B8F20}" srcOrd="0" destOrd="0" presId="urn:microsoft.com/office/officeart/2005/8/layout/process5"/>
    <dgm:cxn modelId="{B9745381-6E27-4652-9FC8-72A6E9E036AB}" type="presParOf" srcId="{A8108FAD-42FF-4F08-AE5E-D1CC0FBDA133}" destId="{18EE8859-0255-46F2-AC14-52CB5B02CA65}" srcOrd="2" destOrd="0" presId="urn:microsoft.com/office/officeart/2005/8/layout/process5"/>
    <dgm:cxn modelId="{09B58F9D-C198-4149-B9C5-E777D6B4B992}" type="presParOf" srcId="{A8108FAD-42FF-4F08-AE5E-D1CC0FBDA133}" destId="{89BBACD0-8541-4C82-8D2A-CBCFF9FB26EF}" srcOrd="3" destOrd="0" presId="urn:microsoft.com/office/officeart/2005/8/layout/process5"/>
    <dgm:cxn modelId="{A7660DCC-826F-42E3-A9A7-A93397E3F2F2}" type="presParOf" srcId="{89BBACD0-8541-4C82-8D2A-CBCFF9FB26EF}" destId="{A8D008C4-8653-4E9A-BFE3-7618B1CA38A5}" srcOrd="0" destOrd="0" presId="urn:microsoft.com/office/officeart/2005/8/layout/process5"/>
    <dgm:cxn modelId="{3810CE46-8878-4FCE-A8EA-40209FC766F3}" type="presParOf" srcId="{A8108FAD-42FF-4F08-AE5E-D1CC0FBDA133}" destId="{A8ACAE9E-FE9C-4730-80DB-C96C45D69982}" srcOrd="4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2EC39AF9-F72E-4F8A-9F39-F9DC26B79722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CCDE5FCB-A19E-4DCB-9EA4-7C1B98E9FEE1}">
      <dgm:prSet/>
      <dgm:spPr/>
      <dgm:t>
        <a:bodyPr/>
        <a:lstStyle/>
        <a:p>
          <a:r>
            <a:rPr lang="en-US"/>
            <a:t>Recent interactions and longer calls increase conversion.</a:t>
          </a:r>
        </a:p>
      </dgm:t>
    </dgm:pt>
    <dgm:pt modelId="{6B363911-0464-4FB1-AE34-91C89BA6A16D}" type="parTrans" cxnId="{421CB8B1-25D9-42CB-A481-80B535A13FCA}">
      <dgm:prSet/>
      <dgm:spPr/>
      <dgm:t>
        <a:bodyPr/>
        <a:lstStyle/>
        <a:p>
          <a:endParaRPr lang="en-US"/>
        </a:p>
      </dgm:t>
    </dgm:pt>
    <dgm:pt modelId="{4CC29CBE-90B4-4E88-A304-A7A9347D20DB}" type="sibTrans" cxnId="{421CB8B1-25D9-42CB-A481-80B535A13FCA}">
      <dgm:prSet/>
      <dgm:spPr/>
      <dgm:t>
        <a:bodyPr/>
        <a:lstStyle/>
        <a:p>
          <a:endParaRPr lang="en-US"/>
        </a:p>
      </dgm:t>
    </dgm:pt>
    <dgm:pt modelId="{23358B7A-0D9C-4F75-8DA7-989A8F0924F5}">
      <dgm:prSet/>
      <dgm:spPr/>
      <dgm:t>
        <a:bodyPr/>
        <a:lstStyle/>
        <a:p>
          <a:r>
            <a:rPr lang="en-US" dirty="0"/>
            <a:t>Middle-aged professionals respond better. </a:t>
          </a:r>
          <a:r>
            <a:rPr lang="en-US" i="1" dirty="0"/>
            <a:t>(Naidu, 2019; </a:t>
          </a:r>
          <a:r>
            <a:rPr lang="en-US" i="1" dirty="0" err="1"/>
            <a:t>Galarnyk</a:t>
          </a:r>
          <a:r>
            <a:rPr lang="en-US" i="1" dirty="0"/>
            <a:t>, 2024)</a:t>
          </a:r>
          <a:endParaRPr lang="en-US" dirty="0"/>
        </a:p>
      </dgm:t>
    </dgm:pt>
    <dgm:pt modelId="{BA6A8D75-3B24-4C46-8583-8F6724850BB8}" type="parTrans" cxnId="{C2C6F7D1-4ADF-42F0-A3B0-D0E9B2258B68}">
      <dgm:prSet/>
      <dgm:spPr/>
      <dgm:t>
        <a:bodyPr/>
        <a:lstStyle/>
        <a:p>
          <a:endParaRPr lang="en-US"/>
        </a:p>
      </dgm:t>
    </dgm:pt>
    <dgm:pt modelId="{693CBA95-FA6C-4462-83F8-A4E976183852}" type="sibTrans" cxnId="{C2C6F7D1-4ADF-42F0-A3B0-D0E9B2258B68}">
      <dgm:prSet/>
      <dgm:spPr/>
      <dgm:t>
        <a:bodyPr/>
        <a:lstStyle/>
        <a:p>
          <a:endParaRPr lang="en-US"/>
        </a:p>
      </dgm:t>
    </dgm:pt>
    <dgm:pt modelId="{3A6A98E1-B00B-418B-9261-00A49193DA99}" type="pres">
      <dgm:prSet presAssocID="{2EC39AF9-F72E-4F8A-9F39-F9DC26B79722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EC1B2F4E-C0A0-49B2-AC76-9949B89F1F80}" type="pres">
      <dgm:prSet presAssocID="{CCDE5FCB-A19E-4DCB-9EA4-7C1B98E9FEE1}" presName="hierRoot1" presStyleCnt="0"/>
      <dgm:spPr/>
    </dgm:pt>
    <dgm:pt modelId="{5C418CAC-A696-49E1-9916-3AAE61C97B37}" type="pres">
      <dgm:prSet presAssocID="{CCDE5FCB-A19E-4DCB-9EA4-7C1B98E9FEE1}" presName="composite" presStyleCnt="0"/>
      <dgm:spPr/>
    </dgm:pt>
    <dgm:pt modelId="{F930B28F-C7DF-4743-A3E0-14CBC4410673}" type="pres">
      <dgm:prSet presAssocID="{CCDE5FCB-A19E-4DCB-9EA4-7C1B98E9FEE1}" presName="background" presStyleLbl="node0" presStyleIdx="0" presStyleCnt="2"/>
      <dgm:spPr/>
    </dgm:pt>
    <dgm:pt modelId="{0B45B75D-F383-47E3-89F5-ACF5003D0148}" type="pres">
      <dgm:prSet presAssocID="{CCDE5FCB-A19E-4DCB-9EA4-7C1B98E9FEE1}" presName="text" presStyleLbl="fgAcc0" presStyleIdx="0" presStyleCnt="2">
        <dgm:presLayoutVars>
          <dgm:chPref val="3"/>
        </dgm:presLayoutVars>
      </dgm:prSet>
      <dgm:spPr/>
    </dgm:pt>
    <dgm:pt modelId="{8316CBC2-A0E9-4913-AAD3-19D416F2CE56}" type="pres">
      <dgm:prSet presAssocID="{CCDE5FCB-A19E-4DCB-9EA4-7C1B98E9FEE1}" presName="hierChild2" presStyleCnt="0"/>
      <dgm:spPr/>
    </dgm:pt>
    <dgm:pt modelId="{5FF8C858-991C-4DD8-9720-344AF75D4080}" type="pres">
      <dgm:prSet presAssocID="{23358B7A-0D9C-4F75-8DA7-989A8F0924F5}" presName="hierRoot1" presStyleCnt="0"/>
      <dgm:spPr/>
    </dgm:pt>
    <dgm:pt modelId="{272AB494-389D-4E94-BD7A-362608CFD715}" type="pres">
      <dgm:prSet presAssocID="{23358B7A-0D9C-4F75-8DA7-989A8F0924F5}" presName="composite" presStyleCnt="0"/>
      <dgm:spPr/>
    </dgm:pt>
    <dgm:pt modelId="{E150E1F8-108D-4DF3-9B38-22E76DCA319F}" type="pres">
      <dgm:prSet presAssocID="{23358B7A-0D9C-4F75-8DA7-989A8F0924F5}" presName="background" presStyleLbl="node0" presStyleIdx="1" presStyleCnt="2"/>
      <dgm:spPr/>
    </dgm:pt>
    <dgm:pt modelId="{DF3E6D04-E46C-49AA-ADE9-1D3FF3D9F40B}" type="pres">
      <dgm:prSet presAssocID="{23358B7A-0D9C-4F75-8DA7-989A8F0924F5}" presName="text" presStyleLbl="fgAcc0" presStyleIdx="1" presStyleCnt="2">
        <dgm:presLayoutVars>
          <dgm:chPref val="3"/>
        </dgm:presLayoutVars>
      </dgm:prSet>
      <dgm:spPr/>
    </dgm:pt>
    <dgm:pt modelId="{BEADBE40-22A7-4B5A-AA65-F536532DBC83}" type="pres">
      <dgm:prSet presAssocID="{23358B7A-0D9C-4F75-8DA7-989A8F0924F5}" presName="hierChild2" presStyleCnt="0"/>
      <dgm:spPr/>
    </dgm:pt>
  </dgm:ptLst>
  <dgm:cxnLst>
    <dgm:cxn modelId="{2040DA59-9E44-4237-A4BC-11905CF08551}" type="presOf" srcId="{23358B7A-0D9C-4F75-8DA7-989A8F0924F5}" destId="{DF3E6D04-E46C-49AA-ADE9-1D3FF3D9F40B}" srcOrd="0" destOrd="0" presId="urn:microsoft.com/office/officeart/2005/8/layout/hierarchy1"/>
    <dgm:cxn modelId="{421CB8B1-25D9-42CB-A481-80B535A13FCA}" srcId="{2EC39AF9-F72E-4F8A-9F39-F9DC26B79722}" destId="{CCDE5FCB-A19E-4DCB-9EA4-7C1B98E9FEE1}" srcOrd="0" destOrd="0" parTransId="{6B363911-0464-4FB1-AE34-91C89BA6A16D}" sibTransId="{4CC29CBE-90B4-4E88-A304-A7A9347D20DB}"/>
    <dgm:cxn modelId="{5A871ACE-E8C3-42DA-ABA4-4AA490174C60}" type="presOf" srcId="{CCDE5FCB-A19E-4DCB-9EA4-7C1B98E9FEE1}" destId="{0B45B75D-F383-47E3-89F5-ACF5003D0148}" srcOrd="0" destOrd="0" presId="urn:microsoft.com/office/officeart/2005/8/layout/hierarchy1"/>
    <dgm:cxn modelId="{C2C6F7D1-4ADF-42F0-A3B0-D0E9B2258B68}" srcId="{2EC39AF9-F72E-4F8A-9F39-F9DC26B79722}" destId="{23358B7A-0D9C-4F75-8DA7-989A8F0924F5}" srcOrd="1" destOrd="0" parTransId="{BA6A8D75-3B24-4C46-8583-8F6724850BB8}" sibTransId="{693CBA95-FA6C-4462-83F8-A4E976183852}"/>
    <dgm:cxn modelId="{356942D5-5F21-4B3F-9894-7C45BB30B2C8}" type="presOf" srcId="{2EC39AF9-F72E-4F8A-9F39-F9DC26B79722}" destId="{3A6A98E1-B00B-418B-9261-00A49193DA99}" srcOrd="0" destOrd="0" presId="urn:microsoft.com/office/officeart/2005/8/layout/hierarchy1"/>
    <dgm:cxn modelId="{101C7F91-E84D-4202-9887-B25AE2BCCBB7}" type="presParOf" srcId="{3A6A98E1-B00B-418B-9261-00A49193DA99}" destId="{EC1B2F4E-C0A0-49B2-AC76-9949B89F1F80}" srcOrd="0" destOrd="0" presId="urn:microsoft.com/office/officeart/2005/8/layout/hierarchy1"/>
    <dgm:cxn modelId="{E76B0833-447B-4932-BF60-638D4B927180}" type="presParOf" srcId="{EC1B2F4E-C0A0-49B2-AC76-9949B89F1F80}" destId="{5C418CAC-A696-49E1-9916-3AAE61C97B37}" srcOrd="0" destOrd="0" presId="urn:microsoft.com/office/officeart/2005/8/layout/hierarchy1"/>
    <dgm:cxn modelId="{BBA81B47-E56D-4D3A-AC60-1B020740DDDB}" type="presParOf" srcId="{5C418CAC-A696-49E1-9916-3AAE61C97B37}" destId="{F930B28F-C7DF-4743-A3E0-14CBC4410673}" srcOrd="0" destOrd="0" presId="urn:microsoft.com/office/officeart/2005/8/layout/hierarchy1"/>
    <dgm:cxn modelId="{8225F38A-52CA-4443-BCAD-524DFF92EFB4}" type="presParOf" srcId="{5C418CAC-A696-49E1-9916-3AAE61C97B37}" destId="{0B45B75D-F383-47E3-89F5-ACF5003D0148}" srcOrd="1" destOrd="0" presId="urn:microsoft.com/office/officeart/2005/8/layout/hierarchy1"/>
    <dgm:cxn modelId="{0ECE8152-47C8-41F9-9DC1-EE0E7794462D}" type="presParOf" srcId="{EC1B2F4E-C0A0-49B2-AC76-9949B89F1F80}" destId="{8316CBC2-A0E9-4913-AAD3-19D416F2CE56}" srcOrd="1" destOrd="0" presId="urn:microsoft.com/office/officeart/2005/8/layout/hierarchy1"/>
    <dgm:cxn modelId="{67C9202C-C0BB-4C41-83C8-DB42E66D0903}" type="presParOf" srcId="{3A6A98E1-B00B-418B-9261-00A49193DA99}" destId="{5FF8C858-991C-4DD8-9720-344AF75D4080}" srcOrd="1" destOrd="0" presId="urn:microsoft.com/office/officeart/2005/8/layout/hierarchy1"/>
    <dgm:cxn modelId="{DCFEE813-9B3A-4932-A5DB-FE81046A7E7E}" type="presParOf" srcId="{5FF8C858-991C-4DD8-9720-344AF75D4080}" destId="{272AB494-389D-4E94-BD7A-362608CFD715}" srcOrd="0" destOrd="0" presId="urn:microsoft.com/office/officeart/2005/8/layout/hierarchy1"/>
    <dgm:cxn modelId="{FEA564BB-6A4F-4679-90DA-9A13547A6865}" type="presParOf" srcId="{272AB494-389D-4E94-BD7A-362608CFD715}" destId="{E150E1F8-108D-4DF3-9B38-22E76DCA319F}" srcOrd="0" destOrd="0" presId="urn:microsoft.com/office/officeart/2005/8/layout/hierarchy1"/>
    <dgm:cxn modelId="{CFDE4F32-8E68-434B-9445-3A869CF217C3}" type="presParOf" srcId="{272AB494-389D-4E94-BD7A-362608CFD715}" destId="{DF3E6D04-E46C-49AA-ADE9-1D3FF3D9F40B}" srcOrd="1" destOrd="0" presId="urn:microsoft.com/office/officeart/2005/8/layout/hierarchy1"/>
    <dgm:cxn modelId="{F46A0BFB-18CB-4F31-8C9E-15B3E2874985}" type="presParOf" srcId="{5FF8C858-991C-4DD8-9720-344AF75D4080}" destId="{BEADBE40-22A7-4B5A-AA65-F536532DBC83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44F51C46-480D-4879-9EBB-03DF958F8BFC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4E0CCA99-D7BE-42FE-A9ED-146BE7873813}">
      <dgm:prSet/>
      <dgm:spPr/>
      <dgm:t>
        <a:bodyPr/>
        <a:lstStyle/>
        <a:p>
          <a:r>
            <a:rPr lang="en-US"/>
            <a:t>Optimized ROMI through targeted campaigns.</a:t>
          </a:r>
        </a:p>
      </dgm:t>
    </dgm:pt>
    <dgm:pt modelId="{BE469C5F-1898-4DE6-A93E-F6D48D3FA5C9}" type="parTrans" cxnId="{8E1CDA70-F2CF-4CDB-8CD8-DAE8987C9C51}">
      <dgm:prSet/>
      <dgm:spPr/>
      <dgm:t>
        <a:bodyPr/>
        <a:lstStyle/>
        <a:p>
          <a:endParaRPr lang="en-US"/>
        </a:p>
      </dgm:t>
    </dgm:pt>
    <dgm:pt modelId="{1E0A7D54-BBB1-437D-A12C-0FDB77FE44AD}" type="sibTrans" cxnId="{8E1CDA70-F2CF-4CDB-8CD8-DAE8987C9C51}">
      <dgm:prSet/>
      <dgm:spPr/>
      <dgm:t>
        <a:bodyPr/>
        <a:lstStyle/>
        <a:p>
          <a:endParaRPr lang="en-US"/>
        </a:p>
      </dgm:t>
    </dgm:pt>
    <dgm:pt modelId="{F8247695-DAD0-4908-B230-3881872F5842}">
      <dgm:prSet/>
      <dgm:spPr/>
      <dgm:t>
        <a:bodyPr/>
        <a:lstStyle/>
        <a:p>
          <a:r>
            <a:rPr lang="en-US"/>
            <a:t>Reduced waste via data-driven decisions. </a:t>
          </a:r>
          <a:r>
            <a:rPr lang="en-US" i="1"/>
            <a:t>(Zinkevich, 2024; DeVries et al., 2025)</a:t>
          </a:r>
          <a:endParaRPr lang="en-US"/>
        </a:p>
      </dgm:t>
    </dgm:pt>
    <dgm:pt modelId="{708A2711-54FB-491A-80B6-69CD83C33536}" type="parTrans" cxnId="{D65ED6A8-1338-4E60-B4D6-9AF5B7155081}">
      <dgm:prSet/>
      <dgm:spPr/>
      <dgm:t>
        <a:bodyPr/>
        <a:lstStyle/>
        <a:p>
          <a:endParaRPr lang="en-US"/>
        </a:p>
      </dgm:t>
    </dgm:pt>
    <dgm:pt modelId="{00437445-8FCA-428F-9647-40E632F4D461}" type="sibTrans" cxnId="{D65ED6A8-1338-4E60-B4D6-9AF5B7155081}">
      <dgm:prSet/>
      <dgm:spPr/>
      <dgm:t>
        <a:bodyPr/>
        <a:lstStyle/>
        <a:p>
          <a:endParaRPr lang="en-US"/>
        </a:p>
      </dgm:t>
    </dgm:pt>
    <dgm:pt modelId="{1ACC81A4-6804-4CFB-913B-9A692B8E0BEE}" type="pres">
      <dgm:prSet presAssocID="{44F51C46-480D-4879-9EBB-03DF958F8BFC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1864F740-2653-459E-80FC-4E34BCB40B39}" type="pres">
      <dgm:prSet presAssocID="{4E0CCA99-D7BE-42FE-A9ED-146BE7873813}" presName="hierRoot1" presStyleCnt="0"/>
      <dgm:spPr/>
    </dgm:pt>
    <dgm:pt modelId="{F77517F9-AF3E-486F-B584-E2604A8AEC8F}" type="pres">
      <dgm:prSet presAssocID="{4E0CCA99-D7BE-42FE-A9ED-146BE7873813}" presName="composite" presStyleCnt="0"/>
      <dgm:spPr/>
    </dgm:pt>
    <dgm:pt modelId="{F32A097A-3498-4EA6-B006-1294CDD326A0}" type="pres">
      <dgm:prSet presAssocID="{4E0CCA99-D7BE-42FE-A9ED-146BE7873813}" presName="background" presStyleLbl="node0" presStyleIdx="0" presStyleCnt="2"/>
      <dgm:spPr/>
    </dgm:pt>
    <dgm:pt modelId="{9DB564BA-C6A1-484C-8AF8-DC1DB0D26E91}" type="pres">
      <dgm:prSet presAssocID="{4E0CCA99-D7BE-42FE-A9ED-146BE7873813}" presName="text" presStyleLbl="fgAcc0" presStyleIdx="0" presStyleCnt="2">
        <dgm:presLayoutVars>
          <dgm:chPref val="3"/>
        </dgm:presLayoutVars>
      </dgm:prSet>
      <dgm:spPr/>
    </dgm:pt>
    <dgm:pt modelId="{56C7B9EC-58AA-4F90-AD4F-27678312B620}" type="pres">
      <dgm:prSet presAssocID="{4E0CCA99-D7BE-42FE-A9ED-146BE7873813}" presName="hierChild2" presStyleCnt="0"/>
      <dgm:spPr/>
    </dgm:pt>
    <dgm:pt modelId="{5FD599AC-F983-49CF-BB0D-A912AA3ECABE}" type="pres">
      <dgm:prSet presAssocID="{F8247695-DAD0-4908-B230-3881872F5842}" presName="hierRoot1" presStyleCnt="0"/>
      <dgm:spPr/>
    </dgm:pt>
    <dgm:pt modelId="{856BAA1B-2330-4F84-85CE-4DCF58AAB7BE}" type="pres">
      <dgm:prSet presAssocID="{F8247695-DAD0-4908-B230-3881872F5842}" presName="composite" presStyleCnt="0"/>
      <dgm:spPr/>
    </dgm:pt>
    <dgm:pt modelId="{B1C4E089-B3B3-4F61-9245-9E6C1CDCCE51}" type="pres">
      <dgm:prSet presAssocID="{F8247695-DAD0-4908-B230-3881872F5842}" presName="background" presStyleLbl="node0" presStyleIdx="1" presStyleCnt="2"/>
      <dgm:spPr/>
    </dgm:pt>
    <dgm:pt modelId="{84891806-0D2F-4645-9C59-F4F8D731056D}" type="pres">
      <dgm:prSet presAssocID="{F8247695-DAD0-4908-B230-3881872F5842}" presName="text" presStyleLbl="fgAcc0" presStyleIdx="1" presStyleCnt="2">
        <dgm:presLayoutVars>
          <dgm:chPref val="3"/>
        </dgm:presLayoutVars>
      </dgm:prSet>
      <dgm:spPr/>
    </dgm:pt>
    <dgm:pt modelId="{FE9FE42F-253C-48E4-8043-0A8E2E1AD9B3}" type="pres">
      <dgm:prSet presAssocID="{F8247695-DAD0-4908-B230-3881872F5842}" presName="hierChild2" presStyleCnt="0"/>
      <dgm:spPr/>
    </dgm:pt>
  </dgm:ptLst>
  <dgm:cxnLst>
    <dgm:cxn modelId="{027ABA05-AEB9-4B80-BAFF-81A7358CA94B}" type="presOf" srcId="{4E0CCA99-D7BE-42FE-A9ED-146BE7873813}" destId="{9DB564BA-C6A1-484C-8AF8-DC1DB0D26E91}" srcOrd="0" destOrd="0" presId="urn:microsoft.com/office/officeart/2005/8/layout/hierarchy1"/>
    <dgm:cxn modelId="{8E1CDA70-F2CF-4CDB-8CD8-DAE8987C9C51}" srcId="{44F51C46-480D-4879-9EBB-03DF958F8BFC}" destId="{4E0CCA99-D7BE-42FE-A9ED-146BE7873813}" srcOrd="0" destOrd="0" parTransId="{BE469C5F-1898-4DE6-A93E-F6D48D3FA5C9}" sibTransId="{1E0A7D54-BBB1-437D-A12C-0FDB77FE44AD}"/>
    <dgm:cxn modelId="{9C655B57-1459-4E2F-9374-1D84CD6EBE1C}" type="presOf" srcId="{44F51C46-480D-4879-9EBB-03DF958F8BFC}" destId="{1ACC81A4-6804-4CFB-913B-9A692B8E0BEE}" srcOrd="0" destOrd="0" presId="urn:microsoft.com/office/officeart/2005/8/layout/hierarchy1"/>
    <dgm:cxn modelId="{D65ED6A8-1338-4E60-B4D6-9AF5B7155081}" srcId="{44F51C46-480D-4879-9EBB-03DF958F8BFC}" destId="{F8247695-DAD0-4908-B230-3881872F5842}" srcOrd="1" destOrd="0" parTransId="{708A2711-54FB-491A-80B6-69CD83C33536}" sibTransId="{00437445-8FCA-428F-9647-40E632F4D461}"/>
    <dgm:cxn modelId="{FE418DE8-1C79-4F90-ACE0-C1E21ED24B28}" type="presOf" srcId="{F8247695-DAD0-4908-B230-3881872F5842}" destId="{84891806-0D2F-4645-9C59-F4F8D731056D}" srcOrd="0" destOrd="0" presId="urn:microsoft.com/office/officeart/2005/8/layout/hierarchy1"/>
    <dgm:cxn modelId="{76166BFE-237D-45E9-9571-06405B7E9E7E}" type="presParOf" srcId="{1ACC81A4-6804-4CFB-913B-9A692B8E0BEE}" destId="{1864F740-2653-459E-80FC-4E34BCB40B39}" srcOrd="0" destOrd="0" presId="urn:microsoft.com/office/officeart/2005/8/layout/hierarchy1"/>
    <dgm:cxn modelId="{2E3831BD-62D1-4393-97ED-384B8862AD59}" type="presParOf" srcId="{1864F740-2653-459E-80FC-4E34BCB40B39}" destId="{F77517F9-AF3E-486F-B584-E2604A8AEC8F}" srcOrd="0" destOrd="0" presId="urn:microsoft.com/office/officeart/2005/8/layout/hierarchy1"/>
    <dgm:cxn modelId="{593083C4-81D9-43D0-820B-F4D450E53D60}" type="presParOf" srcId="{F77517F9-AF3E-486F-B584-E2604A8AEC8F}" destId="{F32A097A-3498-4EA6-B006-1294CDD326A0}" srcOrd="0" destOrd="0" presId="urn:microsoft.com/office/officeart/2005/8/layout/hierarchy1"/>
    <dgm:cxn modelId="{316345B4-E989-48C0-ABF7-EA8AD742E1FF}" type="presParOf" srcId="{F77517F9-AF3E-486F-B584-E2604A8AEC8F}" destId="{9DB564BA-C6A1-484C-8AF8-DC1DB0D26E91}" srcOrd="1" destOrd="0" presId="urn:microsoft.com/office/officeart/2005/8/layout/hierarchy1"/>
    <dgm:cxn modelId="{257A546F-B529-4EF8-8AEA-2764C49F5C6A}" type="presParOf" srcId="{1864F740-2653-459E-80FC-4E34BCB40B39}" destId="{56C7B9EC-58AA-4F90-AD4F-27678312B620}" srcOrd="1" destOrd="0" presId="urn:microsoft.com/office/officeart/2005/8/layout/hierarchy1"/>
    <dgm:cxn modelId="{487C2319-13D0-45E5-B85B-0705025DA8E3}" type="presParOf" srcId="{1ACC81A4-6804-4CFB-913B-9A692B8E0BEE}" destId="{5FD599AC-F983-49CF-BB0D-A912AA3ECABE}" srcOrd="1" destOrd="0" presId="urn:microsoft.com/office/officeart/2005/8/layout/hierarchy1"/>
    <dgm:cxn modelId="{C058444F-A727-465E-BDD6-2A07F9F80158}" type="presParOf" srcId="{5FD599AC-F983-49CF-BB0D-A912AA3ECABE}" destId="{856BAA1B-2330-4F84-85CE-4DCF58AAB7BE}" srcOrd="0" destOrd="0" presId="urn:microsoft.com/office/officeart/2005/8/layout/hierarchy1"/>
    <dgm:cxn modelId="{5DF1CE55-DD92-4E73-AEAB-0BE256A9E260}" type="presParOf" srcId="{856BAA1B-2330-4F84-85CE-4DCF58AAB7BE}" destId="{B1C4E089-B3B3-4F61-9245-9E6C1CDCCE51}" srcOrd="0" destOrd="0" presId="urn:microsoft.com/office/officeart/2005/8/layout/hierarchy1"/>
    <dgm:cxn modelId="{3886E6A7-52A6-4975-BD71-945A896B8D90}" type="presParOf" srcId="{856BAA1B-2330-4F84-85CE-4DCF58AAB7BE}" destId="{84891806-0D2F-4645-9C59-F4F8D731056D}" srcOrd="1" destOrd="0" presId="urn:microsoft.com/office/officeart/2005/8/layout/hierarchy1"/>
    <dgm:cxn modelId="{123D2E90-D303-4C16-82DD-57F522E4B79F}" type="presParOf" srcId="{5FD599AC-F983-49CF-BB0D-A912AA3ECABE}" destId="{FE9FE42F-253C-48E4-8043-0A8E2E1AD9B3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35A27751-71EF-448E-A795-7D66ABB6F37F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2F999F7-BE61-4FA6-B311-9A2188DBC20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Prioritize recent contacts and longer call durations.</a:t>
          </a:r>
        </a:p>
      </dgm:t>
    </dgm:pt>
    <dgm:pt modelId="{6FE38302-56DD-4C7D-9D81-1773DC728EBD}" type="parTrans" cxnId="{DA1BA936-18E9-4ABD-9BD4-6FB553E4F79C}">
      <dgm:prSet/>
      <dgm:spPr/>
      <dgm:t>
        <a:bodyPr/>
        <a:lstStyle/>
        <a:p>
          <a:endParaRPr lang="en-US"/>
        </a:p>
      </dgm:t>
    </dgm:pt>
    <dgm:pt modelId="{DAE45A37-06C2-42A3-A7A5-ED4C54D7C265}" type="sibTrans" cxnId="{DA1BA936-18E9-4ABD-9BD4-6FB553E4F79C}">
      <dgm:prSet/>
      <dgm:spPr/>
      <dgm:t>
        <a:bodyPr/>
        <a:lstStyle/>
        <a:p>
          <a:endParaRPr lang="en-US"/>
        </a:p>
      </dgm:t>
    </dgm:pt>
    <dgm:pt modelId="{C5D85F44-8E6F-4455-9452-A7704A99766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Align campaigns with favorable economic conditions.</a:t>
          </a:r>
        </a:p>
      </dgm:t>
    </dgm:pt>
    <dgm:pt modelId="{1D9000BA-D56C-4CF2-8E9C-20E7E55DC2F0}" type="parTrans" cxnId="{E37F5903-6A03-4ECE-9A7D-684BC0C29F06}">
      <dgm:prSet/>
      <dgm:spPr/>
      <dgm:t>
        <a:bodyPr/>
        <a:lstStyle/>
        <a:p>
          <a:endParaRPr lang="en-US"/>
        </a:p>
      </dgm:t>
    </dgm:pt>
    <dgm:pt modelId="{9E8421BC-BC58-4D3A-9BAE-80D90E22A2E3}" type="sibTrans" cxnId="{E37F5903-6A03-4ECE-9A7D-684BC0C29F06}">
      <dgm:prSet/>
      <dgm:spPr/>
      <dgm:t>
        <a:bodyPr/>
        <a:lstStyle/>
        <a:p>
          <a:endParaRPr lang="en-US"/>
        </a:p>
      </dgm:t>
    </dgm:pt>
    <dgm:pt modelId="{56227BAC-7627-450D-B261-EE9E59D4F3C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Target age 31–45 and professional occupations. </a:t>
          </a:r>
          <a:r>
            <a:rPr lang="en-US" i="1"/>
            <a:t>(SelectHub, 2023; DeVries et al., 2025)</a:t>
          </a:r>
          <a:br>
            <a:rPr lang="en-US"/>
          </a:br>
          <a:endParaRPr lang="en-US"/>
        </a:p>
      </dgm:t>
    </dgm:pt>
    <dgm:pt modelId="{7021C9DF-3FC5-4C95-9C54-05B563767044}" type="parTrans" cxnId="{BE900F70-E73B-4798-8F44-60172978C9EA}">
      <dgm:prSet/>
      <dgm:spPr/>
      <dgm:t>
        <a:bodyPr/>
        <a:lstStyle/>
        <a:p>
          <a:endParaRPr lang="en-US"/>
        </a:p>
      </dgm:t>
    </dgm:pt>
    <dgm:pt modelId="{25975EF9-A82C-4857-BB71-8D97EDAFBD51}" type="sibTrans" cxnId="{BE900F70-E73B-4798-8F44-60172978C9EA}">
      <dgm:prSet/>
      <dgm:spPr/>
      <dgm:t>
        <a:bodyPr/>
        <a:lstStyle/>
        <a:p>
          <a:endParaRPr lang="en-US"/>
        </a:p>
      </dgm:t>
    </dgm:pt>
    <dgm:pt modelId="{49556472-5B3F-4EA7-B6A8-7F8D7C67902B}" type="pres">
      <dgm:prSet presAssocID="{35A27751-71EF-448E-A795-7D66ABB6F37F}" presName="root" presStyleCnt="0">
        <dgm:presLayoutVars>
          <dgm:dir/>
          <dgm:resizeHandles val="exact"/>
        </dgm:presLayoutVars>
      </dgm:prSet>
      <dgm:spPr/>
    </dgm:pt>
    <dgm:pt modelId="{D23279C5-1D2E-4F89-87B0-1E19BFAC904F}" type="pres">
      <dgm:prSet presAssocID="{E2F999F7-BE61-4FA6-B311-9A2188DBC200}" presName="compNode" presStyleCnt="0"/>
      <dgm:spPr/>
    </dgm:pt>
    <dgm:pt modelId="{9459895B-CEB2-4286-973B-CEF165539A97}" type="pres">
      <dgm:prSet presAssocID="{E2F999F7-BE61-4FA6-B311-9A2188DBC200}" presName="bgRect" presStyleLbl="bgShp" presStyleIdx="0" presStyleCnt="3"/>
      <dgm:spPr/>
    </dgm:pt>
    <dgm:pt modelId="{F7AB45F5-FA77-4853-8157-EB536730B94C}" type="pres">
      <dgm:prSet presAssocID="{E2F999F7-BE61-4FA6-B311-9A2188DBC200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B3B01A68-D7DF-499B-ABB9-E8ADEF5B0EDE}" type="pres">
      <dgm:prSet presAssocID="{E2F999F7-BE61-4FA6-B311-9A2188DBC200}" presName="spaceRect" presStyleCnt="0"/>
      <dgm:spPr/>
    </dgm:pt>
    <dgm:pt modelId="{FD2A25A4-6EAA-4754-B7EF-1D0D6915C574}" type="pres">
      <dgm:prSet presAssocID="{E2F999F7-BE61-4FA6-B311-9A2188DBC200}" presName="parTx" presStyleLbl="revTx" presStyleIdx="0" presStyleCnt="3">
        <dgm:presLayoutVars>
          <dgm:chMax val="0"/>
          <dgm:chPref val="0"/>
        </dgm:presLayoutVars>
      </dgm:prSet>
      <dgm:spPr/>
    </dgm:pt>
    <dgm:pt modelId="{DC062230-69B6-4EA5-B228-61471F68E0BB}" type="pres">
      <dgm:prSet presAssocID="{DAE45A37-06C2-42A3-A7A5-ED4C54D7C265}" presName="sibTrans" presStyleCnt="0"/>
      <dgm:spPr/>
    </dgm:pt>
    <dgm:pt modelId="{A6523045-955A-4F15-A3A2-73830A59A73C}" type="pres">
      <dgm:prSet presAssocID="{C5D85F44-8E6F-4455-9452-A7704A997661}" presName="compNode" presStyleCnt="0"/>
      <dgm:spPr/>
    </dgm:pt>
    <dgm:pt modelId="{64BF5752-446A-4362-9B8D-00D305C07860}" type="pres">
      <dgm:prSet presAssocID="{C5D85F44-8E6F-4455-9452-A7704A997661}" presName="bgRect" presStyleLbl="bgShp" presStyleIdx="1" presStyleCnt="3"/>
      <dgm:spPr/>
    </dgm:pt>
    <dgm:pt modelId="{44692628-3A52-4F17-AFD0-0B8673EE8FC3}" type="pres">
      <dgm:prSet presAssocID="{C5D85F44-8E6F-4455-9452-A7704A997661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DCA70A87-2135-4DA1-815A-D425CE50C993}" type="pres">
      <dgm:prSet presAssocID="{C5D85F44-8E6F-4455-9452-A7704A997661}" presName="spaceRect" presStyleCnt="0"/>
      <dgm:spPr/>
    </dgm:pt>
    <dgm:pt modelId="{9FAE081F-0AB5-4734-B1D5-D76B47D0AF79}" type="pres">
      <dgm:prSet presAssocID="{C5D85F44-8E6F-4455-9452-A7704A997661}" presName="parTx" presStyleLbl="revTx" presStyleIdx="1" presStyleCnt="3">
        <dgm:presLayoutVars>
          <dgm:chMax val="0"/>
          <dgm:chPref val="0"/>
        </dgm:presLayoutVars>
      </dgm:prSet>
      <dgm:spPr/>
    </dgm:pt>
    <dgm:pt modelId="{CAA7B555-4C6F-4B0F-9F22-F8B1AF96435C}" type="pres">
      <dgm:prSet presAssocID="{9E8421BC-BC58-4D3A-9BAE-80D90E22A2E3}" presName="sibTrans" presStyleCnt="0"/>
      <dgm:spPr/>
    </dgm:pt>
    <dgm:pt modelId="{3886986D-F696-45D5-BCBD-AB55F43D032E}" type="pres">
      <dgm:prSet presAssocID="{56227BAC-7627-450D-B261-EE9E59D4F3C7}" presName="compNode" presStyleCnt="0"/>
      <dgm:spPr/>
    </dgm:pt>
    <dgm:pt modelId="{EE4B5A47-E490-4E72-938D-BC6C811382EA}" type="pres">
      <dgm:prSet presAssocID="{56227BAC-7627-450D-B261-EE9E59D4F3C7}" presName="bgRect" presStyleLbl="bgShp" presStyleIdx="2" presStyleCnt="3"/>
      <dgm:spPr/>
    </dgm:pt>
    <dgm:pt modelId="{09E3ABAC-325F-4052-B5EB-A6C311E9D436}" type="pres">
      <dgm:prSet presAssocID="{56227BAC-7627-450D-B261-EE9E59D4F3C7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ot Air Balloon"/>
        </a:ext>
      </dgm:extLst>
    </dgm:pt>
    <dgm:pt modelId="{CCC538F5-499E-404B-BFF4-1E3459E8EAB6}" type="pres">
      <dgm:prSet presAssocID="{56227BAC-7627-450D-B261-EE9E59D4F3C7}" presName="spaceRect" presStyleCnt="0"/>
      <dgm:spPr/>
    </dgm:pt>
    <dgm:pt modelId="{A99703CE-666A-4D1F-A508-39C35F378C44}" type="pres">
      <dgm:prSet presAssocID="{56227BAC-7627-450D-B261-EE9E59D4F3C7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E37F5903-6A03-4ECE-9A7D-684BC0C29F06}" srcId="{35A27751-71EF-448E-A795-7D66ABB6F37F}" destId="{C5D85F44-8E6F-4455-9452-A7704A997661}" srcOrd="1" destOrd="0" parTransId="{1D9000BA-D56C-4CF2-8E9C-20E7E55DC2F0}" sibTransId="{9E8421BC-BC58-4D3A-9BAE-80D90E22A2E3}"/>
    <dgm:cxn modelId="{DA1BA936-18E9-4ABD-9BD4-6FB553E4F79C}" srcId="{35A27751-71EF-448E-A795-7D66ABB6F37F}" destId="{E2F999F7-BE61-4FA6-B311-9A2188DBC200}" srcOrd="0" destOrd="0" parTransId="{6FE38302-56DD-4C7D-9D81-1773DC728EBD}" sibTransId="{DAE45A37-06C2-42A3-A7A5-ED4C54D7C265}"/>
    <dgm:cxn modelId="{BE900F70-E73B-4798-8F44-60172978C9EA}" srcId="{35A27751-71EF-448E-A795-7D66ABB6F37F}" destId="{56227BAC-7627-450D-B261-EE9E59D4F3C7}" srcOrd="2" destOrd="0" parTransId="{7021C9DF-3FC5-4C95-9C54-05B563767044}" sibTransId="{25975EF9-A82C-4857-BB71-8D97EDAFBD51}"/>
    <dgm:cxn modelId="{13AA9E9C-393F-4B1B-87E5-ABE4F9A35D3F}" type="presOf" srcId="{56227BAC-7627-450D-B261-EE9E59D4F3C7}" destId="{A99703CE-666A-4D1F-A508-39C35F378C44}" srcOrd="0" destOrd="0" presId="urn:microsoft.com/office/officeart/2018/2/layout/IconVerticalSolidList"/>
    <dgm:cxn modelId="{5BBAAFA8-46F5-4811-8094-93160580A381}" type="presOf" srcId="{C5D85F44-8E6F-4455-9452-A7704A997661}" destId="{9FAE081F-0AB5-4734-B1D5-D76B47D0AF79}" srcOrd="0" destOrd="0" presId="urn:microsoft.com/office/officeart/2018/2/layout/IconVerticalSolidList"/>
    <dgm:cxn modelId="{603EDBE4-C5F2-420E-A3E6-469C27CD01E3}" type="presOf" srcId="{E2F999F7-BE61-4FA6-B311-9A2188DBC200}" destId="{FD2A25A4-6EAA-4754-B7EF-1D0D6915C574}" srcOrd="0" destOrd="0" presId="urn:microsoft.com/office/officeart/2018/2/layout/IconVerticalSolidList"/>
    <dgm:cxn modelId="{6FA4DEF6-B0D2-4D59-B650-AAA81240BD82}" type="presOf" srcId="{35A27751-71EF-448E-A795-7D66ABB6F37F}" destId="{49556472-5B3F-4EA7-B6A8-7F8D7C67902B}" srcOrd="0" destOrd="0" presId="urn:microsoft.com/office/officeart/2018/2/layout/IconVerticalSolidList"/>
    <dgm:cxn modelId="{432271B7-64AC-4F01-8827-87FD666D875E}" type="presParOf" srcId="{49556472-5B3F-4EA7-B6A8-7F8D7C67902B}" destId="{D23279C5-1D2E-4F89-87B0-1E19BFAC904F}" srcOrd="0" destOrd="0" presId="urn:microsoft.com/office/officeart/2018/2/layout/IconVerticalSolidList"/>
    <dgm:cxn modelId="{B0DD4D0C-BAB9-40A5-BE23-10ED91A50C04}" type="presParOf" srcId="{D23279C5-1D2E-4F89-87B0-1E19BFAC904F}" destId="{9459895B-CEB2-4286-973B-CEF165539A97}" srcOrd="0" destOrd="0" presId="urn:microsoft.com/office/officeart/2018/2/layout/IconVerticalSolidList"/>
    <dgm:cxn modelId="{9A84F738-BB0C-4A63-84C8-1025A424C6B5}" type="presParOf" srcId="{D23279C5-1D2E-4F89-87B0-1E19BFAC904F}" destId="{F7AB45F5-FA77-4853-8157-EB536730B94C}" srcOrd="1" destOrd="0" presId="urn:microsoft.com/office/officeart/2018/2/layout/IconVerticalSolidList"/>
    <dgm:cxn modelId="{0741AB31-82CA-47D5-8963-FFED233BC785}" type="presParOf" srcId="{D23279C5-1D2E-4F89-87B0-1E19BFAC904F}" destId="{B3B01A68-D7DF-499B-ABB9-E8ADEF5B0EDE}" srcOrd="2" destOrd="0" presId="urn:microsoft.com/office/officeart/2018/2/layout/IconVerticalSolidList"/>
    <dgm:cxn modelId="{1A063C6A-C65A-430B-97BE-FEF6AC6B3558}" type="presParOf" srcId="{D23279C5-1D2E-4F89-87B0-1E19BFAC904F}" destId="{FD2A25A4-6EAA-4754-B7EF-1D0D6915C574}" srcOrd="3" destOrd="0" presId="urn:microsoft.com/office/officeart/2018/2/layout/IconVerticalSolidList"/>
    <dgm:cxn modelId="{707D07AD-9C62-4FC4-B598-D31222350C20}" type="presParOf" srcId="{49556472-5B3F-4EA7-B6A8-7F8D7C67902B}" destId="{DC062230-69B6-4EA5-B228-61471F68E0BB}" srcOrd="1" destOrd="0" presId="urn:microsoft.com/office/officeart/2018/2/layout/IconVerticalSolidList"/>
    <dgm:cxn modelId="{B4DEA936-29FB-46E2-A048-9F676B3304A9}" type="presParOf" srcId="{49556472-5B3F-4EA7-B6A8-7F8D7C67902B}" destId="{A6523045-955A-4F15-A3A2-73830A59A73C}" srcOrd="2" destOrd="0" presId="urn:microsoft.com/office/officeart/2018/2/layout/IconVerticalSolidList"/>
    <dgm:cxn modelId="{2365F2D5-D03F-412C-8DA4-37A07F0D8ED8}" type="presParOf" srcId="{A6523045-955A-4F15-A3A2-73830A59A73C}" destId="{64BF5752-446A-4362-9B8D-00D305C07860}" srcOrd="0" destOrd="0" presId="urn:microsoft.com/office/officeart/2018/2/layout/IconVerticalSolidList"/>
    <dgm:cxn modelId="{EB8DF8F9-D81A-491A-89C5-9602ACF01B8B}" type="presParOf" srcId="{A6523045-955A-4F15-A3A2-73830A59A73C}" destId="{44692628-3A52-4F17-AFD0-0B8673EE8FC3}" srcOrd="1" destOrd="0" presId="urn:microsoft.com/office/officeart/2018/2/layout/IconVerticalSolidList"/>
    <dgm:cxn modelId="{B608E749-50E8-431B-8883-724E16E9DD7F}" type="presParOf" srcId="{A6523045-955A-4F15-A3A2-73830A59A73C}" destId="{DCA70A87-2135-4DA1-815A-D425CE50C993}" srcOrd="2" destOrd="0" presId="urn:microsoft.com/office/officeart/2018/2/layout/IconVerticalSolidList"/>
    <dgm:cxn modelId="{CC6BD3FA-EFE2-4C6C-B574-FEB6564C0290}" type="presParOf" srcId="{A6523045-955A-4F15-A3A2-73830A59A73C}" destId="{9FAE081F-0AB5-4734-B1D5-D76B47D0AF79}" srcOrd="3" destOrd="0" presId="urn:microsoft.com/office/officeart/2018/2/layout/IconVerticalSolidList"/>
    <dgm:cxn modelId="{D3A1CD44-3D5B-4C73-BEF0-5853E7F743F8}" type="presParOf" srcId="{49556472-5B3F-4EA7-B6A8-7F8D7C67902B}" destId="{CAA7B555-4C6F-4B0F-9F22-F8B1AF96435C}" srcOrd="3" destOrd="0" presId="urn:microsoft.com/office/officeart/2018/2/layout/IconVerticalSolidList"/>
    <dgm:cxn modelId="{B548854E-AC9C-47B0-9136-E92FB904D1C1}" type="presParOf" srcId="{49556472-5B3F-4EA7-B6A8-7F8D7C67902B}" destId="{3886986D-F696-45D5-BCBD-AB55F43D032E}" srcOrd="4" destOrd="0" presId="urn:microsoft.com/office/officeart/2018/2/layout/IconVerticalSolidList"/>
    <dgm:cxn modelId="{47000260-2B53-4EC9-A6EB-A30E976AE4B7}" type="presParOf" srcId="{3886986D-F696-45D5-BCBD-AB55F43D032E}" destId="{EE4B5A47-E490-4E72-938D-BC6C811382EA}" srcOrd="0" destOrd="0" presId="urn:microsoft.com/office/officeart/2018/2/layout/IconVerticalSolidList"/>
    <dgm:cxn modelId="{D5E20ED7-67CA-4368-8A36-CB8BEC3BAFDB}" type="presParOf" srcId="{3886986D-F696-45D5-BCBD-AB55F43D032E}" destId="{09E3ABAC-325F-4052-B5EB-A6C311E9D436}" srcOrd="1" destOrd="0" presId="urn:microsoft.com/office/officeart/2018/2/layout/IconVerticalSolidList"/>
    <dgm:cxn modelId="{4CCBB342-FD2B-4005-97E9-D156385CE00D}" type="presParOf" srcId="{3886986D-F696-45D5-BCBD-AB55F43D032E}" destId="{CCC538F5-499E-404B-BFF4-1E3459E8EAB6}" srcOrd="2" destOrd="0" presId="urn:microsoft.com/office/officeart/2018/2/layout/IconVerticalSolidList"/>
    <dgm:cxn modelId="{3686F30D-E35E-40D8-A6E6-61E820F5AC69}" type="presParOf" srcId="{3886986D-F696-45D5-BCBD-AB55F43D032E}" destId="{A99703CE-666A-4D1F-A508-39C35F378C4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EB0BCD65-1F52-4B83-9D14-E6D4D53EE151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4403E49-C080-40E5-8707-F11D19225D5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Integrate models into CRM for automated targeting.</a:t>
          </a:r>
        </a:p>
      </dgm:t>
    </dgm:pt>
    <dgm:pt modelId="{AF81C04A-BDCF-453D-BB85-17ED5909824F}" type="parTrans" cxnId="{E6BD2529-E9C1-4F53-A524-91CD1FB6D6EE}">
      <dgm:prSet/>
      <dgm:spPr/>
      <dgm:t>
        <a:bodyPr/>
        <a:lstStyle/>
        <a:p>
          <a:endParaRPr lang="en-US"/>
        </a:p>
      </dgm:t>
    </dgm:pt>
    <dgm:pt modelId="{7CC8C0C4-BCD8-4CF3-99FC-DD5B6B1023FD}" type="sibTrans" cxnId="{E6BD2529-E9C1-4F53-A524-91CD1FB6D6EE}">
      <dgm:prSet/>
      <dgm:spPr/>
      <dgm:t>
        <a:bodyPr/>
        <a:lstStyle/>
        <a:p>
          <a:endParaRPr lang="en-US"/>
        </a:p>
      </dgm:t>
    </dgm:pt>
    <dgm:pt modelId="{4D0D82DF-F4C8-4E81-BEFB-34E24B6C2CE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Build real-time dashboards.</a:t>
          </a:r>
        </a:p>
      </dgm:t>
    </dgm:pt>
    <dgm:pt modelId="{34F5B73B-BF2E-4381-A6B2-5289D994F526}" type="parTrans" cxnId="{BDD9B82B-097E-4062-B1C5-52AE06928E4E}">
      <dgm:prSet/>
      <dgm:spPr/>
      <dgm:t>
        <a:bodyPr/>
        <a:lstStyle/>
        <a:p>
          <a:endParaRPr lang="en-US"/>
        </a:p>
      </dgm:t>
    </dgm:pt>
    <dgm:pt modelId="{EB13FE89-FD53-45F5-B004-E876F03586F3}" type="sibTrans" cxnId="{BDD9B82B-097E-4062-B1C5-52AE06928E4E}">
      <dgm:prSet/>
      <dgm:spPr/>
      <dgm:t>
        <a:bodyPr/>
        <a:lstStyle/>
        <a:p>
          <a:endParaRPr lang="en-US"/>
        </a:p>
      </dgm:t>
    </dgm:pt>
    <dgm:pt modelId="{F7304A92-2C91-4A0C-B2FB-5F986AD11A1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Validate models periodically; adopt MLOps. </a:t>
          </a:r>
          <a:r>
            <a:rPr lang="en-US" i="1"/>
            <a:t>(Pelletier, 2024; Zinkevich, 2024)</a:t>
          </a:r>
          <a:endParaRPr lang="en-US"/>
        </a:p>
      </dgm:t>
    </dgm:pt>
    <dgm:pt modelId="{D914FCAC-D4DB-4BD9-9620-9FF23B870B31}" type="parTrans" cxnId="{02708C09-F1B7-493B-872D-376B17DFBD86}">
      <dgm:prSet/>
      <dgm:spPr/>
      <dgm:t>
        <a:bodyPr/>
        <a:lstStyle/>
        <a:p>
          <a:endParaRPr lang="en-US"/>
        </a:p>
      </dgm:t>
    </dgm:pt>
    <dgm:pt modelId="{CFD5A72F-D0C2-45EB-BA57-DFC28D98F1BB}" type="sibTrans" cxnId="{02708C09-F1B7-493B-872D-376B17DFBD86}">
      <dgm:prSet/>
      <dgm:spPr/>
      <dgm:t>
        <a:bodyPr/>
        <a:lstStyle/>
        <a:p>
          <a:endParaRPr lang="en-US"/>
        </a:p>
      </dgm:t>
    </dgm:pt>
    <dgm:pt modelId="{16F673BB-78D2-4C78-AFAB-783F9335524F}" type="pres">
      <dgm:prSet presAssocID="{EB0BCD65-1F52-4B83-9D14-E6D4D53EE151}" presName="root" presStyleCnt="0">
        <dgm:presLayoutVars>
          <dgm:dir/>
          <dgm:resizeHandles val="exact"/>
        </dgm:presLayoutVars>
      </dgm:prSet>
      <dgm:spPr/>
    </dgm:pt>
    <dgm:pt modelId="{A57F1EE2-7A4C-4184-A928-0F06BFC19925}" type="pres">
      <dgm:prSet presAssocID="{D4403E49-C080-40E5-8707-F11D19225D56}" presName="compNode" presStyleCnt="0"/>
      <dgm:spPr/>
    </dgm:pt>
    <dgm:pt modelId="{BE453860-0139-495C-BD01-D191513CC700}" type="pres">
      <dgm:prSet presAssocID="{D4403E49-C080-40E5-8707-F11D19225D56}" presName="bgRect" presStyleLbl="bgShp" presStyleIdx="0" presStyleCnt="3"/>
      <dgm:spPr/>
    </dgm:pt>
    <dgm:pt modelId="{5E587375-0D3D-471F-B79B-70FAD41D6D92}" type="pres">
      <dgm:prSet presAssocID="{D4403E49-C080-40E5-8707-F11D19225D56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69252FCA-4C7B-441E-8E5F-1C001B2269F3}" type="pres">
      <dgm:prSet presAssocID="{D4403E49-C080-40E5-8707-F11D19225D56}" presName="spaceRect" presStyleCnt="0"/>
      <dgm:spPr/>
    </dgm:pt>
    <dgm:pt modelId="{52238084-01D9-4D31-B914-447C50661AC5}" type="pres">
      <dgm:prSet presAssocID="{D4403E49-C080-40E5-8707-F11D19225D56}" presName="parTx" presStyleLbl="revTx" presStyleIdx="0" presStyleCnt="3">
        <dgm:presLayoutVars>
          <dgm:chMax val="0"/>
          <dgm:chPref val="0"/>
        </dgm:presLayoutVars>
      </dgm:prSet>
      <dgm:spPr/>
    </dgm:pt>
    <dgm:pt modelId="{353412B2-4E05-4004-B5F1-55EBD1AF27AC}" type="pres">
      <dgm:prSet presAssocID="{7CC8C0C4-BCD8-4CF3-99FC-DD5B6B1023FD}" presName="sibTrans" presStyleCnt="0"/>
      <dgm:spPr/>
    </dgm:pt>
    <dgm:pt modelId="{B75F4827-A14F-41CF-8FD9-0A5DA74AEA70}" type="pres">
      <dgm:prSet presAssocID="{4D0D82DF-F4C8-4E81-BEFB-34E24B6C2CE0}" presName="compNode" presStyleCnt="0"/>
      <dgm:spPr/>
    </dgm:pt>
    <dgm:pt modelId="{98AED0A2-F397-44F3-8CF5-89EF0FE41E55}" type="pres">
      <dgm:prSet presAssocID="{4D0D82DF-F4C8-4E81-BEFB-34E24B6C2CE0}" presName="bgRect" presStyleLbl="bgShp" presStyleIdx="1" presStyleCnt="3"/>
      <dgm:spPr/>
    </dgm:pt>
    <dgm:pt modelId="{3FFAA994-8830-4078-A3E6-8E2CDDDB6CED}" type="pres">
      <dgm:prSet presAssocID="{4D0D82DF-F4C8-4E81-BEFB-34E24B6C2CE0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auge"/>
        </a:ext>
      </dgm:extLst>
    </dgm:pt>
    <dgm:pt modelId="{2068537E-7325-49DB-8DC7-08BF6930AB5C}" type="pres">
      <dgm:prSet presAssocID="{4D0D82DF-F4C8-4E81-BEFB-34E24B6C2CE0}" presName="spaceRect" presStyleCnt="0"/>
      <dgm:spPr/>
    </dgm:pt>
    <dgm:pt modelId="{CFDC5649-1B08-4665-A6EE-F4DDFD929BE1}" type="pres">
      <dgm:prSet presAssocID="{4D0D82DF-F4C8-4E81-BEFB-34E24B6C2CE0}" presName="parTx" presStyleLbl="revTx" presStyleIdx="1" presStyleCnt="3">
        <dgm:presLayoutVars>
          <dgm:chMax val="0"/>
          <dgm:chPref val="0"/>
        </dgm:presLayoutVars>
      </dgm:prSet>
      <dgm:spPr/>
    </dgm:pt>
    <dgm:pt modelId="{D042F6FA-9625-4590-9EEE-F8774A227AA8}" type="pres">
      <dgm:prSet presAssocID="{EB13FE89-FD53-45F5-B004-E876F03586F3}" presName="sibTrans" presStyleCnt="0"/>
      <dgm:spPr/>
    </dgm:pt>
    <dgm:pt modelId="{E823E9FA-2C2B-4672-91C8-98468649992D}" type="pres">
      <dgm:prSet presAssocID="{F7304A92-2C91-4A0C-B2FB-5F986AD11A1B}" presName="compNode" presStyleCnt="0"/>
      <dgm:spPr/>
    </dgm:pt>
    <dgm:pt modelId="{2CF70C22-09F9-4626-9C81-FFF674077DB7}" type="pres">
      <dgm:prSet presAssocID="{F7304A92-2C91-4A0C-B2FB-5F986AD11A1B}" presName="bgRect" presStyleLbl="bgShp" presStyleIdx="2" presStyleCnt="3"/>
      <dgm:spPr/>
    </dgm:pt>
    <dgm:pt modelId="{267CA10A-326A-4269-AC2B-299DFBE80237}" type="pres">
      <dgm:prSet presAssocID="{F7304A92-2C91-4A0C-B2FB-5F986AD11A1B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ustomer Review"/>
        </a:ext>
      </dgm:extLst>
    </dgm:pt>
    <dgm:pt modelId="{FF553F23-8108-47C6-BB8E-12E262A415DE}" type="pres">
      <dgm:prSet presAssocID="{F7304A92-2C91-4A0C-B2FB-5F986AD11A1B}" presName="spaceRect" presStyleCnt="0"/>
      <dgm:spPr/>
    </dgm:pt>
    <dgm:pt modelId="{314732FD-E299-4B65-9F81-9D9E5F57774B}" type="pres">
      <dgm:prSet presAssocID="{F7304A92-2C91-4A0C-B2FB-5F986AD11A1B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02708C09-F1B7-493B-872D-376B17DFBD86}" srcId="{EB0BCD65-1F52-4B83-9D14-E6D4D53EE151}" destId="{F7304A92-2C91-4A0C-B2FB-5F986AD11A1B}" srcOrd="2" destOrd="0" parTransId="{D914FCAC-D4DB-4BD9-9620-9FF23B870B31}" sibTransId="{CFD5A72F-D0C2-45EB-BA57-DFC28D98F1BB}"/>
    <dgm:cxn modelId="{184A6E25-FDD5-4797-9F5A-1E995AAE418A}" type="presOf" srcId="{EB0BCD65-1F52-4B83-9D14-E6D4D53EE151}" destId="{16F673BB-78D2-4C78-AFAB-783F9335524F}" srcOrd="0" destOrd="0" presId="urn:microsoft.com/office/officeart/2018/2/layout/IconVerticalSolidList"/>
    <dgm:cxn modelId="{E6BD2529-E9C1-4F53-A524-91CD1FB6D6EE}" srcId="{EB0BCD65-1F52-4B83-9D14-E6D4D53EE151}" destId="{D4403E49-C080-40E5-8707-F11D19225D56}" srcOrd="0" destOrd="0" parTransId="{AF81C04A-BDCF-453D-BB85-17ED5909824F}" sibTransId="{7CC8C0C4-BCD8-4CF3-99FC-DD5B6B1023FD}"/>
    <dgm:cxn modelId="{BDD9B82B-097E-4062-B1C5-52AE06928E4E}" srcId="{EB0BCD65-1F52-4B83-9D14-E6D4D53EE151}" destId="{4D0D82DF-F4C8-4E81-BEFB-34E24B6C2CE0}" srcOrd="1" destOrd="0" parTransId="{34F5B73B-BF2E-4381-A6B2-5289D994F526}" sibTransId="{EB13FE89-FD53-45F5-B004-E876F03586F3}"/>
    <dgm:cxn modelId="{6DC1FB2F-1AA9-4C69-A836-673C38CE455D}" type="presOf" srcId="{4D0D82DF-F4C8-4E81-BEFB-34E24B6C2CE0}" destId="{CFDC5649-1B08-4665-A6EE-F4DDFD929BE1}" srcOrd="0" destOrd="0" presId="urn:microsoft.com/office/officeart/2018/2/layout/IconVerticalSolidList"/>
    <dgm:cxn modelId="{293A1E3D-0F5C-4CCE-A0D4-83B465D8ABC4}" type="presOf" srcId="{D4403E49-C080-40E5-8707-F11D19225D56}" destId="{52238084-01D9-4D31-B914-447C50661AC5}" srcOrd="0" destOrd="0" presId="urn:microsoft.com/office/officeart/2018/2/layout/IconVerticalSolidList"/>
    <dgm:cxn modelId="{D77585F1-46D2-4389-8715-F208775D6BA3}" type="presOf" srcId="{F7304A92-2C91-4A0C-B2FB-5F986AD11A1B}" destId="{314732FD-E299-4B65-9F81-9D9E5F57774B}" srcOrd="0" destOrd="0" presId="urn:microsoft.com/office/officeart/2018/2/layout/IconVerticalSolidList"/>
    <dgm:cxn modelId="{83CC5E69-E6B1-40D2-BBCE-9C7A9B6284FE}" type="presParOf" srcId="{16F673BB-78D2-4C78-AFAB-783F9335524F}" destId="{A57F1EE2-7A4C-4184-A928-0F06BFC19925}" srcOrd="0" destOrd="0" presId="urn:microsoft.com/office/officeart/2018/2/layout/IconVerticalSolidList"/>
    <dgm:cxn modelId="{C3E4B30D-8CAD-43EC-B084-54F650D755C7}" type="presParOf" srcId="{A57F1EE2-7A4C-4184-A928-0F06BFC19925}" destId="{BE453860-0139-495C-BD01-D191513CC700}" srcOrd="0" destOrd="0" presId="urn:microsoft.com/office/officeart/2018/2/layout/IconVerticalSolidList"/>
    <dgm:cxn modelId="{56FA27CC-FC09-4512-B8E1-E15664EDD0FA}" type="presParOf" srcId="{A57F1EE2-7A4C-4184-A928-0F06BFC19925}" destId="{5E587375-0D3D-471F-B79B-70FAD41D6D92}" srcOrd="1" destOrd="0" presId="urn:microsoft.com/office/officeart/2018/2/layout/IconVerticalSolidList"/>
    <dgm:cxn modelId="{C9030EBF-69F2-4497-9612-FAD0469B84C3}" type="presParOf" srcId="{A57F1EE2-7A4C-4184-A928-0F06BFC19925}" destId="{69252FCA-4C7B-441E-8E5F-1C001B2269F3}" srcOrd="2" destOrd="0" presId="urn:microsoft.com/office/officeart/2018/2/layout/IconVerticalSolidList"/>
    <dgm:cxn modelId="{12E58F26-2511-4DC3-B72F-1EF57D70BB03}" type="presParOf" srcId="{A57F1EE2-7A4C-4184-A928-0F06BFC19925}" destId="{52238084-01D9-4D31-B914-447C50661AC5}" srcOrd="3" destOrd="0" presId="urn:microsoft.com/office/officeart/2018/2/layout/IconVerticalSolidList"/>
    <dgm:cxn modelId="{7C560065-F4CF-4083-B1FB-A868BC2A6CD4}" type="presParOf" srcId="{16F673BB-78D2-4C78-AFAB-783F9335524F}" destId="{353412B2-4E05-4004-B5F1-55EBD1AF27AC}" srcOrd="1" destOrd="0" presId="urn:microsoft.com/office/officeart/2018/2/layout/IconVerticalSolidList"/>
    <dgm:cxn modelId="{3D75EF31-20B3-4F66-BE63-5DCBE964F42B}" type="presParOf" srcId="{16F673BB-78D2-4C78-AFAB-783F9335524F}" destId="{B75F4827-A14F-41CF-8FD9-0A5DA74AEA70}" srcOrd="2" destOrd="0" presId="urn:microsoft.com/office/officeart/2018/2/layout/IconVerticalSolidList"/>
    <dgm:cxn modelId="{D59693B5-9E80-4010-88A8-E2E300548EA6}" type="presParOf" srcId="{B75F4827-A14F-41CF-8FD9-0A5DA74AEA70}" destId="{98AED0A2-F397-44F3-8CF5-89EF0FE41E55}" srcOrd="0" destOrd="0" presId="urn:microsoft.com/office/officeart/2018/2/layout/IconVerticalSolidList"/>
    <dgm:cxn modelId="{E8CCC3E7-E3AD-4A25-AAA2-21250178A276}" type="presParOf" srcId="{B75F4827-A14F-41CF-8FD9-0A5DA74AEA70}" destId="{3FFAA994-8830-4078-A3E6-8E2CDDDB6CED}" srcOrd="1" destOrd="0" presId="urn:microsoft.com/office/officeart/2018/2/layout/IconVerticalSolidList"/>
    <dgm:cxn modelId="{291F9019-3E04-4D5C-B06D-FCB7A3799560}" type="presParOf" srcId="{B75F4827-A14F-41CF-8FD9-0A5DA74AEA70}" destId="{2068537E-7325-49DB-8DC7-08BF6930AB5C}" srcOrd="2" destOrd="0" presId="urn:microsoft.com/office/officeart/2018/2/layout/IconVerticalSolidList"/>
    <dgm:cxn modelId="{EE605347-B4E2-49C0-BFA9-80F42251160F}" type="presParOf" srcId="{B75F4827-A14F-41CF-8FD9-0A5DA74AEA70}" destId="{CFDC5649-1B08-4665-A6EE-F4DDFD929BE1}" srcOrd="3" destOrd="0" presId="urn:microsoft.com/office/officeart/2018/2/layout/IconVerticalSolidList"/>
    <dgm:cxn modelId="{61DB3144-C6BD-47BA-89D6-5EA0C87C8A97}" type="presParOf" srcId="{16F673BB-78D2-4C78-AFAB-783F9335524F}" destId="{D042F6FA-9625-4590-9EEE-F8774A227AA8}" srcOrd="3" destOrd="0" presId="urn:microsoft.com/office/officeart/2018/2/layout/IconVerticalSolidList"/>
    <dgm:cxn modelId="{205B7F67-7683-4248-A80C-7A4A71CBAE11}" type="presParOf" srcId="{16F673BB-78D2-4C78-AFAB-783F9335524F}" destId="{E823E9FA-2C2B-4672-91C8-98468649992D}" srcOrd="4" destOrd="0" presId="urn:microsoft.com/office/officeart/2018/2/layout/IconVerticalSolidList"/>
    <dgm:cxn modelId="{DF0C744F-1A33-40C7-BC5D-E076BDF7EF61}" type="presParOf" srcId="{E823E9FA-2C2B-4672-91C8-98468649992D}" destId="{2CF70C22-09F9-4626-9C81-FFF674077DB7}" srcOrd="0" destOrd="0" presId="urn:microsoft.com/office/officeart/2018/2/layout/IconVerticalSolidList"/>
    <dgm:cxn modelId="{4892E734-1367-4FE5-B53A-F1CD6C9CDCFC}" type="presParOf" srcId="{E823E9FA-2C2B-4672-91C8-98468649992D}" destId="{267CA10A-326A-4269-AC2B-299DFBE80237}" srcOrd="1" destOrd="0" presId="urn:microsoft.com/office/officeart/2018/2/layout/IconVerticalSolidList"/>
    <dgm:cxn modelId="{5E43BC3C-FC99-4848-BEF7-09F7623D2E0B}" type="presParOf" srcId="{E823E9FA-2C2B-4672-91C8-98468649992D}" destId="{FF553F23-8108-47C6-BB8E-12E262A415DE}" srcOrd="2" destOrd="0" presId="urn:microsoft.com/office/officeart/2018/2/layout/IconVerticalSolidList"/>
    <dgm:cxn modelId="{2B5D19DC-30A0-43D0-BD65-7FA1EDA039E8}" type="presParOf" srcId="{E823E9FA-2C2B-4672-91C8-98468649992D}" destId="{314732FD-E299-4B65-9F81-9D9E5F57774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73F257D-2373-4385-A5AF-0B192A24B85F}">
      <dsp:nvSpPr>
        <dsp:cNvPr id="0" name=""/>
        <dsp:cNvSpPr/>
      </dsp:nvSpPr>
      <dsp:spPr>
        <a:xfrm>
          <a:off x="1333" y="110983"/>
          <a:ext cx="4682211" cy="297320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3FB8E86-0BF2-44FE-A490-8E7D37834F95}">
      <dsp:nvSpPr>
        <dsp:cNvPr id="0" name=""/>
        <dsp:cNvSpPr/>
      </dsp:nvSpPr>
      <dsp:spPr>
        <a:xfrm>
          <a:off x="521579" y="605216"/>
          <a:ext cx="4682211" cy="297320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High marketing spend with unclear performance drivers.</a:t>
          </a:r>
        </a:p>
      </dsp:txBody>
      <dsp:txXfrm>
        <a:off x="608661" y="692298"/>
        <a:ext cx="4508047" cy="2799040"/>
      </dsp:txXfrm>
    </dsp:sp>
    <dsp:sp modelId="{F3E10BEE-9117-40F3-A8A1-B062EFEA04BD}">
      <dsp:nvSpPr>
        <dsp:cNvPr id="0" name=""/>
        <dsp:cNvSpPr/>
      </dsp:nvSpPr>
      <dsp:spPr>
        <a:xfrm>
          <a:off x="5724037" y="110983"/>
          <a:ext cx="4682211" cy="297320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4687DF-B517-4B0E-A4FA-609E0C042B5F}">
      <dsp:nvSpPr>
        <dsp:cNvPr id="0" name=""/>
        <dsp:cNvSpPr/>
      </dsp:nvSpPr>
      <dsp:spPr>
        <a:xfrm>
          <a:off x="6244283" y="605216"/>
          <a:ext cx="4682211" cy="297320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Inability to accurately select high-ROI campaigns.</a:t>
          </a:r>
        </a:p>
      </dsp:txBody>
      <dsp:txXfrm>
        <a:off x="6331365" y="692298"/>
        <a:ext cx="4508047" cy="279904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E226CA0-DA3A-4C4D-B84C-741226584206}">
      <dsp:nvSpPr>
        <dsp:cNvPr id="0" name=""/>
        <dsp:cNvSpPr/>
      </dsp:nvSpPr>
      <dsp:spPr>
        <a:xfrm>
          <a:off x="1333" y="110983"/>
          <a:ext cx="4682211" cy="297320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5AA5D37-3533-4D39-956F-15711FCA6A12}">
      <dsp:nvSpPr>
        <dsp:cNvPr id="0" name=""/>
        <dsp:cNvSpPr/>
      </dsp:nvSpPr>
      <dsp:spPr>
        <a:xfrm>
          <a:off x="521579" y="605216"/>
          <a:ext cx="4682211" cy="297320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Models: Logistic Regression and Random Forest.</a:t>
          </a:r>
        </a:p>
      </dsp:txBody>
      <dsp:txXfrm>
        <a:off x="608661" y="692298"/>
        <a:ext cx="4508047" cy="2799040"/>
      </dsp:txXfrm>
    </dsp:sp>
    <dsp:sp modelId="{95CF4260-C465-473C-A7D2-6BCA1F43571A}">
      <dsp:nvSpPr>
        <dsp:cNvPr id="0" name=""/>
        <dsp:cNvSpPr/>
      </dsp:nvSpPr>
      <dsp:spPr>
        <a:xfrm>
          <a:off x="5724037" y="110983"/>
          <a:ext cx="4682211" cy="297320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C4DC7A-09C1-4808-927E-44030444055E}">
      <dsp:nvSpPr>
        <dsp:cNvPr id="0" name=""/>
        <dsp:cNvSpPr/>
      </dsp:nvSpPr>
      <dsp:spPr>
        <a:xfrm>
          <a:off x="6244283" y="605216"/>
          <a:ext cx="4682211" cy="297320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Preprocessing: Encoding, scaling, stratified train-test split. </a:t>
          </a:r>
          <a:r>
            <a:rPr lang="en-US" sz="3000" i="1" kern="1200"/>
            <a:t>(Brownlee, 2020; Van Dorpe, 2018; Galarnyk, 2025)</a:t>
          </a:r>
          <a:endParaRPr lang="en-US" sz="3000" kern="1200"/>
        </a:p>
      </dsp:txBody>
      <dsp:txXfrm>
        <a:off x="6331365" y="692298"/>
        <a:ext cx="4508047" cy="279904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533B71E-A327-4FA5-97CD-2D909EF1875D}">
      <dsp:nvSpPr>
        <dsp:cNvPr id="0" name=""/>
        <dsp:cNvSpPr/>
      </dsp:nvSpPr>
      <dsp:spPr>
        <a:xfrm>
          <a:off x="718664" y="453902"/>
          <a:ext cx="1955812" cy="1955812"/>
        </a:xfrm>
        <a:prstGeom prst="round2DiagRect">
          <a:avLst>
            <a:gd name="adj1" fmla="val 29727"/>
            <a:gd name="adj2" fmla="val 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4A963A-24EE-462A-B7D3-EF40F382E904}">
      <dsp:nvSpPr>
        <dsp:cNvPr id="0" name=""/>
        <dsp:cNvSpPr/>
      </dsp:nvSpPr>
      <dsp:spPr>
        <a:xfrm>
          <a:off x="1135476" y="870714"/>
          <a:ext cx="1122187" cy="11221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D6E54F-DF6A-4C71-877F-B0D66E91BECE}">
      <dsp:nvSpPr>
        <dsp:cNvPr id="0" name=""/>
        <dsp:cNvSpPr/>
      </dsp:nvSpPr>
      <dsp:spPr>
        <a:xfrm>
          <a:off x="93445" y="3018902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Source: Kaggle Bank Marketing dataset (~41,176 rows).</a:t>
          </a:r>
        </a:p>
      </dsp:txBody>
      <dsp:txXfrm>
        <a:off x="93445" y="3018902"/>
        <a:ext cx="3206250" cy="720000"/>
      </dsp:txXfrm>
    </dsp:sp>
    <dsp:sp modelId="{8DD62DC9-B0F8-41DA-B511-887BBAD5CBFC}">
      <dsp:nvSpPr>
        <dsp:cNvPr id="0" name=""/>
        <dsp:cNvSpPr/>
      </dsp:nvSpPr>
      <dsp:spPr>
        <a:xfrm>
          <a:off x="4486008" y="453902"/>
          <a:ext cx="1955812" cy="1955812"/>
        </a:xfrm>
        <a:prstGeom prst="round2DiagRect">
          <a:avLst>
            <a:gd name="adj1" fmla="val 29727"/>
            <a:gd name="adj2" fmla="val 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A9A9AE0-F493-462E-91F0-CA2A702B2AF6}">
      <dsp:nvSpPr>
        <dsp:cNvPr id="0" name=""/>
        <dsp:cNvSpPr/>
      </dsp:nvSpPr>
      <dsp:spPr>
        <a:xfrm>
          <a:off x="4902820" y="870714"/>
          <a:ext cx="1122187" cy="112218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219C613-A61F-4C67-939E-B3F5EE8A76EF}">
      <dsp:nvSpPr>
        <dsp:cNvPr id="0" name=""/>
        <dsp:cNvSpPr/>
      </dsp:nvSpPr>
      <dsp:spPr>
        <a:xfrm>
          <a:off x="3860789" y="3018902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Features: Demographics, campaign history, economic indicators.</a:t>
          </a:r>
        </a:p>
      </dsp:txBody>
      <dsp:txXfrm>
        <a:off x="3860789" y="3018902"/>
        <a:ext cx="3206250" cy="720000"/>
      </dsp:txXfrm>
    </dsp:sp>
    <dsp:sp modelId="{45F8E8DE-B004-4558-B072-9D2708E8C8C4}">
      <dsp:nvSpPr>
        <dsp:cNvPr id="0" name=""/>
        <dsp:cNvSpPr/>
      </dsp:nvSpPr>
      <dsp:spPr>
        <a:xfrm>
          <a:off x="8253352" y="453902"/>
          <a:ext cx="1955812" cy="1955812"/>
        </a:xfrm>
        <a:prstGeom prst="round2DiagRect">
          <a:avLst>
            <a:gd name="adj1" fmla="val 29727"/>
            <a:gd name="adj2" fmla="val 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BEB750D-C642-4F4A-9079-2FA4E11AB18D}">
      <dsp:nvSpPr>
        <dsp:cNvPr id="0" name=""/>
        <dsp:cNvSpPr/>
      </dsp:nvSpPr>
      <dsp:spPr>
        <a:xfrm>
          <a:off x="8670164" y="870714"/>
          <a:ext cx="1122187" cy="112218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F9CF9F-D888-4BA7-A606-34CE86D74076}">
      <dsp:nvSpPr>
        <dsp:cNvPr id="0" name=""/>
        <dsp:cNvSpPr/>
      </dsp:nvSpPr>
      <dsp:spPr>
        <a:xfrm>
          <a:off x="7628133" y="3018902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Target: response_binary (0 = No, 1 = Yes).</a:t>
          </a:r>
        </a:p>
      </dsp:txBody>
      <dsp:txXfrm>
        <a:off x="7628133" y="3018902"/>
        <a:ext cx="3206250" cy="7200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2E008D1-194C-493E-B8CF-0370109BA22A}">
      <dsp:nvSpPr>
        <dsp:cNvPr id="0" name=""/>
        <dsp:cNvSpPr/>
      </dsp:nvSpPr>
      <dsp:spPr>
        <a:xfrm>
          <a:off x="9604" y="983495"/>
          <a:ext cx="2870689" cy="172241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One-hot encoding for categorical variables. </a:t>
          </a:r>
          <a:r>
            <a:rPr lang="en-US" sz="2200" i="1" kern="1200"/>
            <a:t>(Van Dorpe, 2018)</a:t>
          </a:r>
          <a:endParaRPr lang="en-US" sz="2200" kern="1200"/>
        </a:p>
      </dsp:txBody>
      <dsp:txXfrm>
        <a:off x="60052" y="1033943"/>
        <a:ext cx="2769793" cy="1621517"/>
      </dsp:txXfrm>
    </dsp:sp>
    <dsp:sp modelId="{7E2E96ED-E89D-43AC-9424-7E0299F90F04}">
      <dsp:nvSpPr>
        <dsp:cNvPr id="0" name=""/>
        <dsp:cNvSpPr/>
      </dsp:nvSpPr>
      <dsp:spPr>
        <a:xfrm>
          <a:off x="3132914" y="1488737"/>
          <a:ext cx="608586" cy="71193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/>
        </a:p>
      </dsp:txBody>
      <dsp:txXfrm>
        <a:off x="3132914" y="1631123"/>
        <a:ext cx="426010" cy="427158"/>
      </dsp:txXfrm>
    </dsp:sp>
    <dsp:sp modelId="{18EE8859-0255-46F2-AC14-52CB5B02CA65}">
      <dsp:nvSpPr>
        <dsp:cNvPr id="0" name=""/>
        <dsp:cNvSpPr/>
      </dsp:nvSpPr>
      <dsp:spPr>
        <a:xfrm>
          <a:off x="4028569" y="983495"/>
          <a:ext cx="2870689" cy="172241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Standard scaling for numeric features. </a:t>
          </a:r>
          <a:r>
            <a:rPr lang="en-US" sz="2200" i="1" kern="1200"/>
            <a:t>(Galarnyk, 2025)</a:t>
          </a:r>
          <a:endParaRPr lang="en-US" sz="2200" kern="1200"/>
        </a:p>
      </dsp:txBody>
      <dsp:txXfrm>
        <a:off x="4079017" y="1033943"/>
        <a:ext cx="2769793" cy="1621517"/>
      </dsp:txXfrm>
    </dsp:sp>
    <dsp:sp modelId="{89BBACD0-8541-4C82-8D2A-CBCFF9FB26EF}">
      <dsp:nvSpPr>
        <dsp:cNvPr id="0" name=""/>
        <dsp:cNvSpPr/>
      </dsp:nvSpPr>
      <dsp:spPr>
        <a:xfrm>
          <a:off x="7151879" y="1488737"/>
          <a:ext cx="608586" cy="71193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/>
        </a:p>
      </dsp:txBody>
      <dsp:txXfrm>
        <a:off x="7151879" y="1631123"/>
        <a:ext cx="426010" cy="427158"/>
      </dsp:txXfrm>
    </dsp:sp>
    <dsp:sp modelId="{A8ACAE9E-FE9C-4730-80DB-C96C45D69982}">
      <dsp:nvSpPr>
        <dsp:cNvPr id="0" name=""/>
        <dsp:cNvSpPr/>
      </dsp:nvSpPr>
      <dsp:spPr>
        <a:xfrm>
          <a:off x="8047535" y="983495"/>
          <a:ext cx="2870689" cy="172241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Train-test split: 70/30 ratio, stratified. </a:t>
          </a:r>
          <a:r>
            <a:rPr lang="en-US" sz="2200" i="1" kern="1200"/>
            <a:t>(Brownlee, 2020; Raheja, 2025)</a:t>
          </a:r>
          <a:endParaRPr lang="en-US" sz="2200" kern="1200"/>
        </a:p>
      </dsp:txBody>
      <dsp:txXfrm>
        <a:off x="8097983" y="1033943"/>
        <a:ext cx="2769793" cy="1621517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930B28F-C7DF-4743-A3E0-14CBC4410673}">
      <dsp:nvSpPr>
        <dsp:cNvPr id="0" name=""/>
        <dsp:cNvSpPr/>
      </dsp:nvSpPr>
      <dsp:spPr>
        <a:xfrm>
          <a:off x="1333" y="110983"/>
          <a:ext cx="4682211" cy="297320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45B75D-F383-47E3-89F5-ACF5003D0148}">
      <dsp:nvSpPr>
        <dsp:cNvPr id="0" name=""/>
        <dsp:cNvSpPr/>
      </dsp:nvSpPr>
      <dsp:spPr>
        <a:xfrm>
          <a:off x="521579" y="605216"/>
          <a:ext cx="4682211" cy="297320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Recent interactions and longer calls increase conversion.</a:t>
          </a:r>
        </a:p>
      </dsp:txBody>
      <dsp:txXfrm>
        <a:off x="608661" y="692298"/>
        <a:ext cx="4508047" cy="2799040"/>
      </dsp:txXfrm>
    </dsp:sp>
    <dsp:sp modelId="{E150E1F8-108D-4DF3-9B38-22E76DCA319F}">
      <dsp:nvSpPr>
        <dsp:cNvPr id="0" name=""/>
        <dsp:cNvSpPr/>
      </dsp:nvSpPr>
      <dsp:spPr>
        <a:xfrm>
          <a:off x="5724037" y="110983"/>
          <a:ext cx="4682211" cy="297320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3E6D04-E46C-49AA-ADE9-1D3FF3D9F40B}">
      <dsp:nvSpPr>
        <dsp:cNvPr id="0" name=""/>
        <dsp:cNvSpPr/>
      </dsp:nvSpPr>
      <dsp:spPr>
        <a:xfrm>
          <a:off x="6244283" y="605216"/>
          <a:ext cx="4682211" cy="297320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/>
            <a:t>Middle-aged professionals respond better. </a:t>
          </a:r>
          <a:r>
            <a:rPr lang="en-US" sz="3600" i="1" kern="1200" dirty="0"/>
            <a:t>(Naidu, 2019; </a:t>
          </a:r>
          <a:r>
            <a:rPr lang="en-US" sz="3600" i="1" kern="1200" dirty="0" err="1"/>
            <a:t>Galarnyk</a:t>
          </a:r>
          <a:r>
            <a:rPr lang="en-US" sz="3600" i="1" kern="1200" dirty="0"/>
            <a:t>, 2024)</a:t>
          </a:r>
          <a:endParaRPr lang="en-US" sz="3600" kern="1200" dirty="0"/>
        </a:p>
      </dsp:txBody>
      <dsp:txXfrm>
        <a:off x="6331365" y="692298"/>
        <a:ext cx="4508047" cy="279904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32A097A-3498-4EA6-B006-1294CDD326A0}">
      <dsp:nvSpPr>
        <dsp:cNvPr id="0" name=""/>
        <dsp:cNvSpPr/>
      </dsp:nvSpPr>
      <dsp:spPr>
        <a:xfrm>
          <a:off x="1333" y="110983"/>
          <a:ext cx="4682211" cy="297320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B564BA-C6A1-484C-8AF8-DC1DB0D26E91}">
      <dsp:nvSpPr>
        <dsp:cNvPr id="0" name=""/>
        <dsp:cNvSpPr/>
      </dsp:nvSpPr>
      <dsp:spPr>
        <a:xfrm>
          <a:off x="521579" y="605216"/>
          <a:ext cx="4682211" cy="297320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Optimized ROMI through targeted campaigns.</a:t>
          </a:r>
        </a:p>
      </dsp:txBody>
      <dsp:txXfrm>
        <a:off x="608661" y="692298"/>
        <a:ext cx="4508047" cy="2799040"/>
      </dsp:txXfrm>
    </dsp:sp>
    <dsp:sp modelId="{B1C4E089-B3B3-4F61-9245-9E6C1CDCCE51}">
      <dsp:nvSpPr>
        <dsp:cNvPr id="0" name=""/>
        <dsp:cNvSpPr/>
      </dsp:nvSpPr>
      <dsp:spPr>
        <a:xfrm>
          <a:off x="5724037" y="110983"/>
          <a:ext cx="4682211" cy="297320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891806-0D2F-4645-9C59-F4F8D731056D}">
      <dsp:nvSpPr>
        <dsp:cNvPr id="0" name=""/>
        <dsp:cNvSpPr/>
      </dsp:nvSpPr>
      <dsp:spPr>
        <a:xfrm>
          <a:off x="6244283" y="605216"/>
          <a:ext cx="4682211" cy="297320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Reduced waste via data-driven decisions. </a:t>
          </a:r>
          <a:r>
            <a:rPr lang="en-US" sz="3600" i="1" kern="1200"/>
            <a:t>(Zinkevich, 2024; DeVries et al., 2025)</a:t>
          </a:r>
          <a:endParaRPr lang="en-US" sz="3600" kern="1200"/>
        </a:p>
      </dsp:txBody>
      <dsp:txXfrm>
        <a:off x="6331365" y="692298"/>
        <a:ext cx="4508047" cy="279904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459895B-CEB2-4286-973B-CEF165539A97}">
      <dsp:nvSpPr>
        <dsp:cNvPr id="0" name=""/>
        <dsp:cNvSpPr/>
      </dsp:nvSpPr>
      <dsp:spPr>
        <a:xfrm>
          <a:off x="0" y="531"/>
          <a:ext cx="10515600" cy="124293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7AB45F5-FA77-4853-8157-EB536730B94C}">
      <dsp:nvSpPr>
        <dsp:cNvPr id="0" name=""/>
        <dsp:cNvSpPr/>
      </dsp:nvSpPr>
      <dsp:spPr>
        <a:xfrm>
          <a:off x="375988" y="280191"/>
          <a:ext cx="683614" cy="68361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D2A25A4-6EAA-4754-B7EF-1D0D6915C574}">
      <dsp:nvSpPr>
        <dsp:cNvPr id="0" name=""/>
        <dsp:cNvSpPr/>
      </dsp:nvSpPr>
      <dsp:spPr>
        <a:xfrm>
          <a:off x="1435590" y="531"/>
          <a:ext cx="90800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Prioritize recent contacts and longer call durations.</a:t>
          </a:r>
        </a:p>
      </dsp:txBody>
      <dsp:txXfrm>
        <a:off x="1435590" y="531"/>
        <a:ext cx="9080009" cy="1242935"/>
      </dsp:txXfrm>
    </dsp:sp>
    <dsp:sp modelId="{64BF5752-446A-4362-9B8D-00D305C07860}">
      <dsp:nvSpPr>
        <dsp:cNvPr id="0" name=""/>
        <dsp:cNvSpPr/>
      </dsp:nvSpPr>
      <dsp:spPr>
        <a:xfrm>
          <a:off x="0" y="1554201"/>
          <a:ext cx="10515600" cy="124293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4692628-3A52-4F17-AFD0-0B8673EE8FC3}">
      <dsp:nvSpPr>
        <dsp:cNvPr id="0" name=""/>
        <dsp:cNvSpPr/>
      </dsp:nvSpPr>
      <dsp:spPr>
        <a:xfrm>
          <a:off x="375988" y="1833861"/>
          <a:ext cx="683614" cy="68361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AE081F-0AB5-4734-B1D5-D76B47D0AF79}">
      <dsp:nvSpPr>
        <dsp:cNvPr id="0" name=""/>
        <dsp:cNvSpPr/>
      </dsp:nvSpPr>
      <dsp:spPr>
        <a:xfrm>
          <a:off x="1435590" y="1554201"/>
          <a:ext cx="90800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Align campaigns with favorable economic conditions.</a:t>
          </a:r>
        </a:p>
      </dsp:txBody>
      <dsp:txXfrm>
        <a:off x="1435590" y="1554201"/>
        <a:ext cx="9080009" cy="1242935"/>
      </dsp:txXfrm>
    </dsp:sp>
    <dsp:sp modelId="{EE4B5A47-E490-4E72-938D-BC6C811382EA}">
      <dsp:nvSpPr>
        <dsp:cNvPr id="0" name=""/>
        <dsp:cNvSpPr/>
      </dsp:nvSpPr>
      <dsp:spPr>
        <a:xfrm>
          <a:off x="0" y="3107870"/>
          <a:ext cx="10515600" cy="124293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9E3ABAC-325F-4052-B5EB-A6C311E9D436}">
      <dsp:nvSpPr>
        <dsp:cNvPr id="0" name=""/>
        <dsp:cNvSpPr/>
      </dsp:nvSpPr>
      <dsp:spPr>
        <a:xfrm>
          <a:off x="375988" y="3387531"/>
          <a:ext cx="683614" cy="68361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9703CE-666A-4D1F-A508-39C35F378C44}">
      <dsp:nvSpPr>
        <dsp:cNvPr id="0" name=""/>
        <dsp:cNvSpPr/>
      </dsp:nvSpPr>
      <dsp:spPr>
        <a:xfrm>
          <a:off x="1435590" y="3107870"/>
          <a:ext cx="90800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Target age 31–45 and professional occupations. </a:t>
          </a:r>
          <a:r>
            <a:rPr lang="en-US" sz="2100" i="1" kern="1200"/>
            <a:t>(SelectHub, 2023; DeVries et al., 2025)</a:t>
          </a:r>
          <a:br>
            <a:rPr lang="en-US" sz="2100" kern="1200"/>
          </a:br>
          <a:endParaRPr lang="en-US" sz="2100" kern="1200"/>
        </a:p>
      </dsp:txBody>
      <dsp:txXfrm>
        <a:off x="1435590" y="3107870"/>
        <a:ext cx="9080009" cy="1242935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E453860-0139-495C-BD01-D191513CC700}">
      <dsp:nvSpPr>
        <dsp:cNvPr id="0" name=""/>
        <dsp:cNvSpPr/>
      </dsp:nvSpPr>
      <dsp:spPr>
        <a:xfrm>
          <a:off x="0" y="531"/>
          <a:ext cx="10515600" cy="124293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E587375-0D3D-471F-B79B-70FAD41D6D92}">
      <dsp:nvSpPr>
        <dsp:cNvPr id="0" name=""/>
        <dsp:cNvSpPr/>
      </dsp:nvSpPr>
      <dsp:spPr>
        <a:xfrm>
          <a:off x="375988" y="280191"/>
          <a:ext cx="683614" cy="68361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2238084-01D9-4D31-B914-447C50661AC5}">
      <dsp:nvSpPr>
        <dsp:cNvPr id="0" name=""/>
        <dsp:cNvSpPr/>
      </dsp:nvSpPr>
      <dsp:spPr>
        <a:xfrm>
          <a:off x="1435590" y="531"/>
          <a:ext cx="90800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Integrate models into CRM for automated targeting.</a:t>
          </a:r>
        </a:p>
      </dsp:txBody>
      <dsp:txXfrm>
        <a:off x="1435590" y="531"/>
        <a:ext cx="9080009" cy="1242935"/>
      </dsp:txXfrm>
    </dsp:sp>
    <dsp:sp modelId="{98AED0A2-F397-44F3-8CF5-89EF0FE41E55}">
      <dsp:nvSpPr>
        <dsp:cNvPr id="0" name=""/>
        <dsp:cNvSpPr/>
      </dsp:nvSpPr>
      <dsp:spPr>
        <a:xfrm>
          <a:off x="0" y="1554201"/>
          <a:ext cx="10515600" cy="124293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FFAA994-8830-4078-A3E6-8E2CDDDB6CED}">
      <dsp:nvSpPr>
        <dsp:cNvPr id="0" name=""/>
        <dsp:cNvSpPr/>
      </dsp:nvSpPr>
      <dsp:spPr>
        <a:xfrm>
          <a:off x="375988" y="1833861"/>
          <a:ext cx="683614" cy="68361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DC5649-1B08-4665-A6EE-F4DDFD929BE1}">
      <dsp:nvSpPr>
        <dsp:cNvPr id="0" name=""/>
        <dsp:cNvSpPr/>
      </dsp:nvSpPr>
      <dsp:spPr>
        <a:xfrm>
          <a:off x="1435590" y="1554201"/>
          <a:ext cx="90800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Build real-time dashboards.</a:t>
          </a:r>
        </a:p>
      </dsp:txBody>
      <dsp:txXfrm>
        <a:off x="1435590" y="1554201"/>
        <a:ext cx="9080009" cy="1242935"/>
      </dsp:txXfrm>
    </dsp:sp>
    <dsp:sp modelId="{2CF70C22-09F9-4626-9C81-FFF674077DB7}">
      <dsp:nvSpPr>
        <dsp:cNvPr id="0" name=""/>
        <dsp:cNvSpPr/>
      </dsp:nvSpPr>
      <dsp:spPr>
        <a:xfrm>
          <a:off x="0" y="3107870"/>
          <a:ext cx="10515600" cy="124293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67CA10A-326A-4269-AC2B-299DFBE80237}">
      <dsp:nvSpPr>
        <dsp:cNvPr id="0" name=""/>
        <dsp:cNvSpPr/>
      </dsp:nvSpPr>
      <dsp:spPr>
        <a:xfrm>
          <a:off x="375988" y="3387531"/>
          <a:ext cx="683614" cy="68361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14732FD-E299-4B65-9F81-9D9E5F57774B}">
      <dsp:nvSpPr>
        <dsp:cNvPr id="0" name=""/>
        <dsp:cNvSpPr/>
      </dsp:nvSpPr>
      <dsp:spPr>
        <a:xfrm>
          <a:off x="1435590" y="3107870"/>
          <a:ext cx="90800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Validate models periodically; adopt MLOps. </a:t>
          </a:r>
          <a:r>
            <a:rPr lang="en-US" sz="2500" i="1" kern="1200"/>
            <a:t>(Pelletier, 2024; Zinkevich, 2024)</a:t>
          </a:r>
          <a:endParaRPr lang="en-US" sz="2500" kern="1200"/>
        </a:p>
      </dsp:txBody>
      <dsp:txXfrm>
        <a:off x="1435590" y="3107870"/>
        <a:ext cx="9080009" cy="124293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7C1ECA-DD16-4BDC-94CB-93B2EB3E7B90}" type="datetimeFigureOut">
              <a:rPr lang="en-NG" smtClean="0"/>
              <a:t>24/11/2025</a:t>
            </a:fld>
            <a:endParaRPr lang="en-N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N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6115A7-D6A8-455F-8A6B-61D3226B2E14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5003208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Overview of findings demonstrating data-driven insights for improving Unilever Nigeria’s marketing performance.</a:t>
            </a:r>
            <a:endParaRPr lang="en-N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6115A7-D6A8-455F-8A6B-61D3226B2E14}" type="slidenum">
              <a:rPr lang="en-NG" smtClean="0"/>
              <a:t>1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4600149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Unilever operates in a highly competitive environment where marketing spend must deliver measurable returns. This project addresses the challenge of fragmented data and unclear performance metrics by applying predictive analytics to guide strategic decisions.</a:t>
            </a:r>
          </a:p>
          <a:p>
            <a:endParaRPr lang="en-N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6115A7-D6A8-455F-8A6B-61D3226B2E14}" type="slidenum">
              <a:rPr lang="en-NG" smtClean="0"/>
              <a:t>2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35494795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Purpose is to shift from intuition to data-driven campaign strategies.</a:t>
            </a:r>
          </a:p>
          <a:p>
            <a:endParaRPr lang="en-N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6115A7-D6A8-455F-8A6B-61D3226B2E14}" type="slidenum">
              <a:rPr lang="en-NG" smtClean="0"/>
              <a:t>3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159034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Lack of model-based targeting leads to inefficient budget allocation.</a:t>
            </a:r>
          </a:p>
          <a:p>
            <a:endParaRPr lang="en-N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6115A7-D6A8-455F-8A6B-61D3226B2E14}" type="slidenum">
              <a:rPr lang="en-NG" smtClean="0"/>
              <a:t>4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5190076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Models chosen for interpretability and predictive strength.</a:t>
            </a:r>
          </a:p>
          <a:p>
            <a:endParaRPr lang="en-N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6115A7-D6A8-455F-8A6B-61D3226B2E14}" type="slidenum">
              <a:rPr lang="en-NG" smtClean="0"/>
              <a:t>5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1893082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Dataset reflects real-world marketing response patterns.</a:t>
            </a:r>
          </a:p>
          <a:p>
            <a:endParaRPr lang="en-N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6115A7-D6A8-455F-8A6B-61D3226B2E14}" type="slidenum">
              <a:rPr lang="en-NG" smtClean="0"/>
              <a:t>6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4553861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Ensures balanced and clean data for modeling.</a:t>
            </a:r>
          </a:p>
          <a:p>
            <a:endParaRPr lang="en-N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6115A7-D6A8-455F-8A6B-61D3226B2E14}" type="slidenum">
              <a:rPr lang="en-NG" smtClean="0"/>
              <a:t>7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4696672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Both models achieved strong predictive performance.</a:t>
            </a:r>
          </a:p>
          <a:p>
            <a:endParaRPr lang="en-N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6115A7-D6A8-455F-8A6B-61D3226B2E14}" type="slidenum">
              <a:rPr lang="en-NG" smtClean="0"/>
              <a:t>8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5502315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Customer engagement history and economic conditions drive success.</a:t>
            </a:r>
          </a:p>
          <a:p>
            <a:endParaRPr lang="en-N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6115A7-D6A8-455F-8A6B-61D3226B2E14}" type="slidenum">
              <a:rPr lang="en-NG" smtClean="0"/>
              <a:t>9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32700541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Targeting these segments improves campaign ROI.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6115A7-D6A8-455F-8A6B-61D3226B2E14}" type="slidenum">
              <a:rPr lang="en-NG" smtClean="0"/>
              <a:t>10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310523594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Predictive analytics enhances strategic marketing decisions.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6115A7-D6A8-455F-8A6B-61D3226B2E14}" type="slidenum">
              <a:rPr lang="en-NG" smtClean="0"/>
              <a:t>11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76895401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These actions maximize campaign effectiveness.</a:t>
            </a:r>
          </a:p>
          <a:p>
            <a:endParaRPr lang="en-N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6115A7-D6A8-455F-8A6B-61D3226B2E14}" type="slidenum">
              <a:rPr lang="en-NG" smtClean="0"/>
              <a:t>12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01037756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Operationalizing insights ensures sustained performance.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6115A7-D6A8-455F-8A6B-61D3226B2E14}" type="slidenum">
              <a:rPr lang="en-NG" smtClean="0"/>
              <a:t>13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6444545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A0FF2-55E5-974E-5973-5501E2EC21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7F18A8-4639-F3C4-2748-DE87F964F6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2DDEB9-1967-2401-FCA9-42216AF250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7CD422-B08F-4638-B902-0DE3B37750F7}" type="datetimeFigureOut">
              <a:rPr lang="en-NG" smtClean="0"/>
              <a:t>24/11/2025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CC5874-38B2-039A-7CA9-22DD67A0C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E3372F-06DB-5D0A-CA09-0A2A07022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76A7E-38EE-4A2F-807C-3BBD0F5C1463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08244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E92B0A-399C-AEC9-565D-E66BBB4CA0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178928-2819-BAD3-04E1-6C7E338918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1F1F91-3DFA-F867-A303-A212846C43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7CD422-B08F-4638-B902-0DE3B37750F7}" type="datetimeFigureOut">
              <a:rPr lang="en-NG" smtClean="0"/>
              <a:t>24/11/2025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5278B8-B27D-2F46-1810-8D69825A14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E088A5-6B3F-F216-6E64-AD8129CBEB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76A7E-38EE-4A2F-807C-3BBD0F5C1463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3295778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8B40C-CACB-A90F-8A5E-A6BAD10E08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48933F-4F39-FC7E-A15D-CAE6EAD539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189A52-3740-0104-26EE-0A5563FB3B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7CD422-B08F-4638-B902-0DE3B37750F7}" type="datetimeFigureOut">
              <a:rPr lang="en-NG" smtClean="0"/>
              <a:t>24/11/2025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5FBC64-DBA6-CA78-FFD4-5A1E3FFD0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2B1317-AF0B-C18E-827C-A030B7134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76A7E-38EE-4A2F-807C-3BBD0F5C1463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34911892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404EB7-D4AA-9819-6CB7-C3E7F81FD4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F8E855-2997-D856-DC24-ECC55DCBD2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B78D11-F7FA-260F-21E5-B32E4B78FF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D1CA93-1CEF-A77D-2465-5E1237B53C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7CD422-B08F-4638-B902-0DE3B37750F7}" type="datetimeFigureOut">
              <a:rPr lang="en-NG" smtClean="0"/>
              <a:t>24/11/2025</a:t>
            </a:fld>
            <a:endParaRPr lang="en-N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AEEB62-08F4-17A9-611F-2264EC743A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6E7ECE-63E4-8CA1-79EF-EEC063B99B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76A7E-38EE-4A2F-807C-3BBD0F5C1463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339751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90946D-3D9F-2791-E604-F54CA2F3A8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28A82F-001D-FE97-FC7B-CDE0428DCC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E0FA29-1961-27C4-2C4F-6B393C904B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31E81CA-D8C3-D2F2-4E92-1A577AA3C9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48F8CB-3FAD-C46A-837E-093C9E635C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E0D9B8B-C0A8-FDE4-3EB2-C6E391A1BE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7CD422-B08F-4638-B902-0DE3B37750F7}" type="datetimeFigureOut">
              <a:rPr lang="en-NG" smtClean="0"/>
              <a:t>24/11/2025</a:t>
            </a:fld>
            <a:endParaRPr lang="en-N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B2D1409-D84C-6A29-84D6-F43FDF3550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2EA395-BE02-BA73-40E4-0F6D9ECC5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76A7E-38EE-4A2F-807C-3BBD0F5C1463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969165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5B5AB-ACBD-B8C6-818E-1684A56372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9378B9D-BF41-360A-EC92-8EFEC7CE4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7CD422-B08F-4638-B902-0DE3B37750F7}" type="datetimeFigureOut">
              <a:rPr lang="en-NG" smtClean="0"/>
              <a:t>24/11/2025</a:t>
            </a:fld>
            <a:endParaRPr lang="en-N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749EC5-397C-C838-EFA9-C90E506749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E4CB8E-80D5-9D6E-0057-0D87FFE56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76A7E-38EE-4A2F-807C-3BBD0F5C1463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36487396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7D5CB7-A2CD-7E4E-EE56-97B20FF568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7CD422-B08F-4638-B902-0DE3B37750F7}" type="datetimeFigureOut">
              <a:rPr lang="en-NG" smtClean="0"/>
              <a:t>24/11/2025</a:t>
            </a:fld>
            <a:endParaRPr lang="en-N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E2FBB7-8364-20A3-6F36-882BC18FF8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E0906A-AE5F-774C-7472-AA1D86141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76A7E-38EE-4A2F-807C-3BBD0F5C1463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7314921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083C3-3EEB-80B8-AAD2-8ED9455EF8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14E68F-D614-97F4-5603-C650F4E7CC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4EED3E-8C3B-553C-751B-2D4BA954EB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D0F05C-F253-B03B-AF42-D97B98718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7CD422-B08F-4638-B902-0DE3B37750F7}" type="datetimeFigureOut">
              <a:rPr lang="en-NG" smtClean="0"/>
              <a:t>24/11/2025</a:t>
            </a:fld>
            <a:endParaRPr lang="en-N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EE4E05-59D7-2DAF-1DF3-ADBE03F88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258981-0D2C-CEFD-DDFA-D1CFBAD89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76A7E-38EE-4A2F-807C-3BBD0F5C1463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9919383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6D8995-4574-CBB8-313C-F93D0E7D2A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5163A06-DCE6-F02C-04E7-2EF95D5E78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CB958B-52B0-A611-4BCD-83C7BEC45D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345661-F608-ED76-7E53-C367632378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7CD422-B08F-4638-B902-0DE3B37750F7}" type="datetimeFigureOut">
              <a:rPr lang="en-NG" smtClean="0"/>
              <a:t>24/11/2025</a:t>
            </a:fld>
            <a:endParaRPr lang="en-N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5C93D4-4213-CAEF-0914-24952FF414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30A087-970A-B863-85E1-D1300A3FA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76A7E-38EE-4A2F-807C-3BBD0F5C1463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42343270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6EDFE-5F8F-5EB2-22B6-9A2110F490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48FBF1-3D4C-07B1-1267-58104D9263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37478A-DB09-7E13-5050-E9AB3AF92D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7CD422-B08F-4638-B902-0DE3B37750F7}" type="datetimeFigureOut">
              <a:rPr lang="en-NG" smtClean="0"/>
              <a:t>24/11/2025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80558A-71E1-7F9B-10AF-42D44443CA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930D4D-A613-DC49-897D-FC4B5CC85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76A7E-38EE-4A2F-807C-3BBD0F5C1463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6387753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DCDDB3A-0703-268C-B9CB-B66173A860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5C3391-DA16-09B3-DC06-DED2FBBEF1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C2926A-55ED-3F3A-9E1E-3960261523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7CD422-B08F-4638-B902-0DE3B37750F7}" type="datetimeFigureOut">
              <a:rPr lang="en-NG" smtClean="0"/>
              <a:t>24/11/2025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8A033E-283A-F7D4-29C5-CAD3EE96A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A4354D-AE1B-9AA9-6CE4-BF9FD48C6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76A7E-38EE-4A2F-807C-3BBD0F5C1463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3566107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4BB80E6-AB1C-255D-2CA9-1C5CB20592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1B6F55-487A-0967-5130-79107D56A6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0E5FA5-44B6-128C-D700-9F83C1D261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7CD422-B08F-4638-B902-0DE3B37750F7}" type="datetimeFigureOut">
              <a:rPr lang="en-NG" smtClean="0"/>
              <a:t>24/11/2025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C2DA0C-9A31-7A34-CE49-B7D029397F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7444E8-6FAC-2705-657A-482586D07E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576A7E-38EE-4A2F-807C-3BBD0F5C1463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34523408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analyticsvidhya.com/blog/2021/06/understanding-random-forest/" TargetMode="External"/><Relationship Id="rId3" Type="http://schemas.openxmlformats.org/officeDocument/2006/relationships/hyperlink" Target="https://aws.amazon.com/blogs/architecture/" TargetMode="External"/><Relationship Id="rId7" Type="http://schemas.openxmlformats.org/officeDocument/2006/relationships/hyperlink" Target="https://www.analyticsvidhya.com/blog/2023/11/train-test-validation-split/" TargetMode="External"/><Relationship Id="rId2" Type="http://schemas.openxmlformats.org/officeDocument/2006/relationships/hyperlink" Target="https://machinelearningmastery.com/train-test-split-for-evaluating-machine-learning-algorithms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towardsdatascience.com/track-your-ml-experiments-9d2ea8cbeb02" TargetMode="External"/><Relationship Id="rId11" Type="http://schemas.openxmlformats.org/officeDocument/2006/relationships/hyperlink" Target="https://developers.google.com/machine-learning/guides/rules-of-ml" TargetMode="External"/><Relationship Id="rId5" Type="http://schemas.openxmlformats.org/officeDocument/2006/relationships/hyperlink" Target="https://doi.org/10.48550/arXiv.1407.7502" TargetMode="External"/><Relationship Id="rId10" Type="http://schemas.openxmlformats.org/officeDocument/2006/relationships/hyperlink" Target="https://towardsdatascience.com/preprocessing-with-sklearn-a-complete-and-comprehensive-guide-670cb98fcfb9" TargetMode="External"/><Relationship Id="rId4" Type="http://schemas.openxmlformats.org/officeDocument/2006/relationships/hyperlink" Target="https://builtin.com/data-science/train-test-split" TargetMode="External"/><Relationship Id="rId9" Type="http://schemas.openxmlformats.org/officeDocument/2006/relationships/hyperlink" Target="https://www.analyticsvidhya.com/blog/2020/07/10-techniques-to-deal-with-class-imbalance-in-machine-learning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77D6B2E-37A3-429E-A37C-F30ED6487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723" y="-1"/>
            <a:ext cx="12225953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41959" y="-3"/>
            <a:ext cx="11772269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5200" y="0"/>
            <a:ext cx="3623374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64D5D5-227B-4F66-9AEA-46F570E79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5875" y="-3"/>
            <a:ext cx="12233581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46B67A4-D328-4747-A82B-65E84FA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484334" y="-861824"/>
            <a:ext cx="6861931" cy="8597859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1186972" y="1089049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1F9590-18AC-53AF-A9CE-FA99CC4837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62567" y="818984"/>
            <a:ext cx="6714699" cy="3178689"/>
          </a:xfrm>
        </p:spPr>
        <p:txBody>
          <a:bodyPr>
            <a:normAutofit/>
          </a:bodyPr>
          <a:lstStyle/>
          <a:p>
            <a:pPr algn="l"/>
            <a:r>
              <a:rPr lang="en-US" sz="4800" b="1">
                <a:solidFill>
                  <a:srgbClr val="FFFFFF"/>
                </a:solidFill>
              </a:rPr>
              <a:t>Marketing Campaign Effectiveness Analysis</a:t>
            </a:r>
            <a:endParaRPr lang="en-NG" sz="4800">
              <a:solidFill>
                <a:srgbClr val="FFFFFF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4490110"/>
            <a:ext cx="12217710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F4C087-293E-4765-048D-2B197B3F32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85397" y="4960961"/>
            <a:ext cx="7055893" cy="1078054"/>
          </a:xfrm>
        </p:spPr>
        <p:txBody>
          <a:bodyPr>
            <a:normAutofit/>
          </a:bodyPr>
          <a:lstStyle/>
          <a:p>
            <a:pPr algn="l"/>
            <a:r>
              <a:rPr lang="en-US" dirty="0">
                <a:solidFill>
                  <a:srgbClr val="FFFFFF"/>
                </a:solidFill>
              </a:rPr>
              <a:t>Taiwo O. Elewode</a:t>
            </a:r>
            <a:endParaRPr lang="en-NG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62884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B4FF48-B055-2322-9B94-48A359F18A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b="1">
                <a:solidFill>
                  <a:srgbClr val="FFFFFF"/>
                </a:solidFill>
              </a:rPr>
              <a:t>Introduction</a:t>
            </a:r>
            <a:endParaRPr lang="en-NG" sz="40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A609D5-E6EF-86E7-1830-21837ED4B0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en-US" sz="2000" dirty="0"/>
              <a:t>Marketing campaigns are critical for Unilever Nigeria’s growth in a competitive FMCG market.</a:t>
            </a:r>
          </a:p>
          <a:p>
            <a:r>
              <a:rPr lang="en-US" sz="2000" dirty="0"/>
              <a:t>The company invests heavily in advertising, promotions, and influencer partnerships.</a:t>
            </a:r>
          </a:p>
          <a:p>
            <a:r>
              <a:rPr lang="en-US" sz="2000" dirty="0"/>
              <a:t>Challenge: Fragmented data and lack of clear performance measurement hinder strategic decisions.</a:t>
            </a:r>
          </a:p>
          <a:p>
            <a:r>
              <a:rPr lang="en-US" sz="2000" dirty="0"/>
              <a:t>This analysis leverages predictive analytics and visualization to transform raw data into actionable insights for campaign optimization. </a:t>
            </a:r>
            <a:r>
              <a:rPr lang="en-US" sz="2000" i="1" dirty="0"/>
              <a:t>(Harvard Business Review, 2022)</a:t>
            </a:r>
            <a:endParaRPr lang="en-US" sz="2000" dirty="0"/>
          </a:p>
          <a:p>
            <a:pPr marL="0" indent="0">
              <a:buNone/>
            </a:pPr>
            <a:endParaRPr lang="en-NG" sz="2000" dirty="0"/>
          </a:p>
        </p:txBody>
      </p:sp>
    </p:spTree>
    <p:extLst>
      <p:ext uri="{BB962C8B-B14F-4D97-AF65-F5344CB8AC3E}">
        <p14:creationId xmlns:p14="http://schemas.microsoft.com/office/powerpoint/2010/main" val="10117194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A16B66-5E6F-4184-921E-7372256C92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Objective</a:t>
            </a:r>
            <a:endParaRPr lang="en-NG" sz="4000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889A77-A480-F66D-4970-72FC65D538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000" dirty="0"/>
              <a:t>Use predictive analytics to evaluate campaign performance and boost Return on Marketing Investment (ROMI). </a:t>
            </a:r>
            <a:r>
              <a:rPr lang="en-US" sz="2000" i="1" dirty="0"/>
              <a:t>(Brownlee, 2020; Singh, 2025)</a:t>
            </a:r>
            <a:endParaRPr lang="en-US" sz="2000" dirty="0"/>
          </a:p>
          <a:p>
            <a:pPr marL="0" indent="0">
              <a:buNone/>
            </a:pPr>
            <a:endParaRPr lang="en-NG" sz="2000" dirty="0"/>
          </a:p>
        </p:txBody>
      </p:sp>
    </p:spTree>
    <p:extLst>
      <p:ext uri="{BB962C8B-B14F-4D97-AF65-F5344CB8AC3E}">
        <p14:creationId xmlns:p14="http://schemas.microsoft.com/office/powerpoint/2010/main" val="36996696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EAB773-7A35-AC58-7FA5-90A839C4F6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sz="4000" b="1">
                <a:solidFill>
                  <a:srgbClr val="FFFFFF"/>
                </a:solidFill>
              </a:rPr>
              <a:t>Business Problem</a:t>
            </a:r>
            <a:endParaRPr lang="en-NG" sz="4000">
              <a:solidFill>
                <a:srgbClr val="FFFFFF"/>
              </a:solidFill>
            </a:endParaRPr>
          </a:p>
        </p:txBody>
      </p:sp>
      <p:graphicFrame>
        <p:nvGraphicFramePr>
          <p:cNvPr id="21" name="Content Placeholder 2">
            <a:extLst>
              <a:ext uri="{FF2B5EF4-FFF2-40B4-BE49-F238E27FC236}">
                <a16:creationId xmlns:a16="http://schemas.microsoft.com/office/drawing/2014/main" id="{C088CC6E-567E-7C94-3CF7-5A769CDB9DD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51083749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3192643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D173FF4-1DB2-9F8B-CF5A-D4F33674C9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sz="4000" b="1">
                <a:solidFill>
                  <a:srgbClr val="FFFFFF"/>
                </a:solidFill>
              </a:rPr>
              <a:t>Solution Approach</a:t>
            </a:r>
            <a:endParaRPr lang="en-NG" sz="4000">
              <a:solidFill>
                <a:srgbClr val="FFFFFF"/>
              </a:solidFill>
            </a:endParaRPr>
          </a:p>
        </p:txBody>
      </p:sp>
      <p:graphicFrame>
        <p:nvGraphicFramePr>
          <p:cNvPr id="36" name="Content Placeholder 2">
            <a:extLst>
              <a:ext uri="{FF2B5EF4-FFF2-40B4-BE49-F238E27FC236}">
                <a16:creationId xmlns:a16="http://schemas.microsoft.com/office/drawing/2014/main" id="{4972654C-0258-7534-3708-97453D63565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16648732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9498435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E18093-B6A1-418C-2D2D-D506B5AAFA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 b="1" dirty="0">
                <a:solidFill>
                  <a:srgbClr val="FFFFFF"/>
                </a:solidFill>
              </a:rPr>
              <a:t>Dataset Overview</a:t>
            </a:r>
            <a:endParaRPr lang="en-NG" sz="4000" dirty="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BCB9873-0EAB-15DF-F068-B65A66F97AC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30258338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9170577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6ECAF2-DF7E-78CB-959D-EDD0B4FBD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sz="4000" b="1">
                <a:solidFill>
                  <a:srgbClr val="FFFFFF"/>
                </a:solidFill>
              </a:rPr>
              <a:t>Preprocessing &amp; Data Split</a:t>
            </a:r>
            <a:endParaRPr lang="en-NG" sz="40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7AE86AB-6D4F-3672-8909-DF4D603E0C3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39201898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2101248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1" name="Rectangle 1040">
            <a:extLst>
              <a:ext uri="{FF2B5EF4-FFF2-40B4-BE49-F238E27FC236}">
                <a16:creationId xmlns:a16="http://schemas.microsoft.com/office/drawing/2014/main" id="{B712E947-0734-45F9-9C4F-41114EC3A3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285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42" name="Group 1041">
            <a:extLst>
              <a:ext uri="{FF2B5EF4-FFF2-40B4-BE49-F238E27FC236}">
                <a16:creationId xmlns:a16="http://schemas.microsoft.com/office/drawing/2014/main" id="{12B3290A-D3BF-4B87-B55B-FD9A98B497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9030" cy="1576446"/>
            <a:chOff x="0" y="0"/>
            <a:chExt cx="12192002" cy="1576446"/>
          </a:xfrm>
        </p:grpSpPr>
        <p:sp>
          <p:nvSpPr>
            <p:cNvPr id="1043" name="Rectangle 1042">
              <a:extLst>
                <a:ext uri="{FF2B5EF4-FFF2-40B4-BE49-F238E27FC236}">
                  <a16:creationId xmlns:a16="http://schemas.microsoft.com/office/drawing/2014/main" id="{033A715A-0686-440A-8F40-441B42A660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 flipH="1">
              <a:off x="2" y="0"/>
              <a:ext cx="12191998" cy="1575955"/>
            </a:xfrm>
            <a:prstGeom prst="rect">
              <a:avLst/>
            </a:prstGeom>
            <a:gradFill>
              <a:gsLst>
                <a:gs pos="0">
                  <a:srgbClr val="000000">
                    <a:alpha val="96000"/>
                  </a:srgbClr>
                </a:gs>
                <a:gs pos="100000">
                  <a:schemeClr val="accent1">
                    <a:lumMod val="75000"/>
                  </a:schemeClr>
                </a:gs>
              </a:gsLst>
              <a:lin ang="8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4" name="Rectangle 1043">
              <a:extLst>
                <a:ext uri="{FF2B5EF4-FFF2-40B4-BE49-F238E27FC236}">
                  <a16:creationId xmlns:a16="http://schemas.microsoft.com/office/drawing/2014/main" id="{4761657F-19F2-425B-B7E9-0118CD13C3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07778" y="-5307778"/>
              <a:ext cx="1576446" cy="12192002"/>
            </a:xfrm>
            <a:prstGeom prst="rect">
              <a:avLst/>
            </a:prstGeom>
            <a:gradFill>
              <a:gsLst>
                <a:gs pos="45000">
                  <a:schemeClr val="accent1">
                    <a:alpha val="0"/>
                  </a:schemeClr>
                </a:gs>
                <a:gs pos="99000">
                  <a:srgbClr val="000000">
                    <a:alpha val="74000"/>
                  </a:srgb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36" name="Rectangle 1035">
              <a:extLst>
                <a:ext uri="{FF2B5EF4-FFF2-40B4-BE49-F238E27FC236}">
                  <a16:creationId xmlns:a16="http://schemas.microsoft.com/office/drawing/2014/main" id="{E27B6634-79D3-4EDD-A77A-1065D6F3A4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825434" y="0"/>
              <a:ext cx="4303422" cy="1575461"/>
            </a:xfrm>
            <a:prstGeom prst="rect">
              <a:avLst/>
            </a:prstGeom>
            <a:gradFill>
              <a:gsLst>
                <a:gs pos="0">
                  <a:schemeClr val="accent1">
                    <a:alpha val="17000"/>
                  </a:schemeClr>
                </a:gs>
                <a:gs pos="74000">
                  <a:schemeClr val="accent1">
                    <a:lumMod val="50000"/>
                    <a:alpha val="0"/>
                  </a:schemeClr>
                </a:gs>
              </a:gsLst>
              <a:lin ang="14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78A3965-D833-27E5-17E8-C34EC37673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8" y="319314"/>
            <a:ext cx="9477377" cy="1030515"/>
          </a:xfrm>
        </p:spPr>
        <p:txBody>
          <a:bodyPr anchor="ctr">
            <a:normAutofit/>
          </a:bodyPr>
          <a:lstStyle/>
          <a:p>
            <a:r>
              <a:rPr lang="en-US" sz="4000" b="1" dirty="0">
                <a:solidFill>
                  <a:srgbClr val="FFFFFF"/>
                </a:solidFill>
              </a:rPr>
              <a:t>Model Performance</a:t>
            </a:r>
            <a:endParaRPr lang="en-NG" sz="4000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01B99F-6294-6CAE-0D7A-80EC563D13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2647" y="5069360"/>
            <a:ext cx="9496427" cy="1385266"/>
          </a:xfrm>
        </p:spPr>
        <p:txBody>
          <a:bodyPr>
            <a:normAutofit/>
          </a:bodyPr>
          <a:lstStyle/>
          <a:p>
            <a:r>
              <a:rPr lang="en-US" sz="1300" dirty="0"/>
              <a:t>Metrics: Accuracy, Precision, Recall, F1-score.</a:t>
            </a:r>
          </a:p>
          <a:p>
            <a:r>
              <a:rPr lang="en-US" sz="1300" dirty="0"/>
              <a:t>ROC Curve comparison. </a:t>
            </a:r>
            <a:r>
              <a:rPr lang="en-US" sz="1300" i="1" dirty="0"/>
              <a:t>(Or, 2020; Brownlee, 2020)</a:t>
            </a:r>
            <a:br>
              <a:rPr lang="en-US" sz="1300" dirty="0"/>
            </a:br>
            <a:endParaRPr lang="en-NG" sz="13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EDF797D-6CD5-2A4E-4C50-D5A8AB7D75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647" y="1929592"/>
            <a:ext cx="5314741" cy="299881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EC1F5FD-2722-1238-2127-FEF5AEDD543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9811" y="1929592"/>
            <a:ext cx="5709432" cy="3139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85832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5" name="Rectangle 2054">
            <a:extLst>
              <a:ext uri="{FF2B5EF4-FFF2-40B4-BE49-F238E27FC236}">
                <a16:creationId xmlns:a16="http://schemas.microsoft.com/office/drawing/2014/main" id="{B712E947-0734-45F9-9C4F-41114EC3A3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285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57" name="Group 2056">
            <a:extLst>
              <a:ext uri="{FF2B5EF4-FFF2-40B4-BE49-F238E27FC236}">
                <a16:creationId xmlns:a16="http://schemas.microsoft.com/office/drawing/2014/main" id="{12B3290A-D3BF-4B87-B55B-FD9A98B497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9030" cy="1576446"/>
            <a:chOff x="0" y="0"/>
            <a:chExt cx="12192002" cy="1576446"/>
          </a:xfrm>
        </p:grpSpPr>
        <p:sp>
          <p:nvSpPr>
            <p:cNvPr id="2058" name="Rectangle 2057">
              <a:extLst>
                <a:ext uri="{FF2B5EF4-FFF2-40B4-BE49-F238E27FC236}">
                  <a16:creationId xmlns:a16="http://schemas.microsoft.com/office/drawing/2014/main" id="{033A715A-0686-440A-8F40-441B42A660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 flipH="1">
              <a:off x="2" y="0"/>
              <a:ext cx="12191998" cy="1575955"/>
            </a:xfrm>
            <a:prstGeom prst="rect">
              <a:avLst/>
            </a:prstGeom>
            <a:gradFill>
              <a:gsLst>
                <a:gs pos="0">
                  <a:srgbClr val="000000">
                    <a:alpha val="96000"/>
                  </a:srgbClr>
                </a:gs>
                <a:gs pos="100000">
                  <a:schemeClr val="accent1">
                    <a:lumMod val="75000"/>
                  </a:schemeClr>
                </a:gs>
              </a:gsLst>
              <a:lin ang="8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59" name="Rectangle 2058">
              <a:extLst>
                <a:ext uri="{FF2B5EF4-FFF2-40B4-BE49-F238E27FC236}">
                  <a16:creationId xmlns:a16="http://schemas.microsoft.com/office/drawing/2014/main" id="{4761657F-19F2-425B-B7E9-0118CD13C3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07778" y="-5307778"/>
              <a:ext cx="1576446" cy="12192002"/>
            </a:xfrm>
            <a:prstGeom prst="rect">
              <a:avLst/>
            </a:prstGeom>
            <a:gradFill>
              <a:gsLst>
                <a:gs pos="45000">
                  <a:schemeClr val="accent1">
                    <a:alpha val="0"/>
                  </a:schemeClr>
                </a:gs>
                <a:gs pos="99000">
                  <a:srgbClr val="000000">
                    <a:alpha val="74000"/>
                  </a:srgb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60" name="Rectangle 2059">
              <a:extLst>
                <a:ext uri="{FF2B5EF4-FFF2-40B4-BE49-F238E27FC236}">
                  <a16:creationId xmlns:a16="http://schemas.microsoft.com/office/drawing/2014/main" id="{E27B6634-79D3-4EDD-A77A-1065D6F3A4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825434" y="0"/>
              <a:ext cx="4303422" cy="1575461"/>
            </a:xfrm>
            <a:prstGeom prst="rect">
              <a:avLst/>
            </a:prstGeom>
            <a:gradFill>
              <a:gsLst>
                <a:gs pos="0">
                  <a:schemeClr val="accent1">
                    <a:alpha val="17000"/>
                  </a:schemeClr>
                </a:gs>
                <a:gs pos="74000">
                  <a:schemeClr val="accent1">
                    <a:lumMod val="50000"/>
                    <a:alpha val="0"/>
                  </a:schemeClr>
                </a:gs>
              </a:gsLst>
              <a:lin ang="14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2A05CFC-E797-F86D-AA38-CFCF1E064B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8" y="319314"/>
            <a:ext cx="9477377" cy="1030515"/>
          </a:xfrm>
        </p:spPr>
        <p:txBody>
          <a:bodyPr anchor="ctr">
            <a:normAutofit/>
          </a:bodyPr>
          <a:lstStyle/>
          <a:p>
            <a:r>
              <a:rPr lang="en-US" sz="4000" b="1">
                <a:solidFill>
                  <a:srgbClr val="FFFFFF"/>
                </a:solidFill>
              </a:rPr>
              <a:t>Key Findings</a:t>
            </a:r>
            <a:endParaRPr lang="en-NG" sz="40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58248A-9120-CE80-B888-1AD9511313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2798" y="5599797"/>
            <a:ext cx="9496427" cy="838967"/>
          </a:xfrm>
        </p:spPr>
        <p:txBody>
          <a:bodyPr>
            <a:noAutofit/>
          </a:bodyPr>
          <a:lstStyle/>
          <a:p>
            <a:r>
              <a:rPr lang="en-US" sz="1300" dirty="0"/>
              <a:t>Top predictors: </a:t>
            </a:r>
            <a:r>
              <a:rPr lang="en-US" sz="1300" dirty="0" err="1"/>
              <a:t>pdays</a:t>
            </a:r>
            <a:r>
              <a:rPr lang="en-US" sz="1300" dirty="0"/>
              <a:t>, previous, duration, euribor3m, </a:t>
            </a:r>
            <a:r>
              <a:rPr lang="en-US" sz="1300" dirty="0" err="1"/>
              <a:t>nr_employed</a:t>
            </a:r>
            <a:r>
              <a:rPr lang="en-US" sz="1300" dirty="0"/>
              <a:t>. </a:t>
            </a:r>
            <a:r>
              <a:rPr lang="en-US" sz="1300" i="1" dirty="0"/>
              <a:t>(Sruthi, 2023; </a:t>
            </a:r>
            <a:r>
              <a:rPr lang="en-US" sz="1300" i="1" dirty="0" err="1"/>
              <a:t>Louppe</a:t>
            </a:r>
            <a:r>
              <a:rPr lang="en-US" sz="1300" i="1" dirty="0"/>
              <a:t>, 2015)</a:t>
            </a:r>
            <a:br>
              <a:rPr lang="en-US" sz="1300" dirty="0"/>
            </a:br>
            <a:endParaRPr lang="en-NG" sz="13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A209264-8BB4-AA47-2527-603E817597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798" y="1894775"/>
            <a:ext cx="5556361" cy="355540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5A3E205-6121-847A-5E59-5F9B6B56F54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894775"/>
            <a:ext cx="5733202" cy="3285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29555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F6C4051-3EB5-E810-2B2A-FDB662CBD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Business Insights</a:t>
            </a:r>
            <a:endParaRPr lang="en-US" sz="40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17" name="Content Placeholder 2">
            <a:extLst>
              <a:ext uri="{FF2B5EF4-FFF2-40B4-BE49-F238E27FC236}">
                <a16:creationId xmlns:a16="http://schemas.microsoft.com/office/drawing/2014/main" id="{22797FED-1A9C-9A61-1438-57F0BE09708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99618008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2386762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A0EBA0-7D6F-F538-496B-7C8E26429B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sz="4000" b="1">
                <a:solidFill>
                  <a:srgbClr val="FFFFFF"/>
                </a:solidFill>
              </a:rPr>
              <a:t>Business Value</a:t>
            </a:r>
            <a:endParaRPr lang="en-NG" sz="4000" dirty="0">
              <a:solidFill>
                <a:srgbClr val="FFFFFF"/>
              </a:solidFill>
            </a:endParaRPr>
          </a:p>
        </p:txBody>
      </p:sp>
      <p:graphicFrame>
        <p:nvGraphicFramePr>
          <p:cNvPr id="18" name="Content Placeholder 2">
            <a:extLst>
              <a:ext uri="{FF2B5EF4-FFF2-40B4-BE49-F238E27FC236}">
                <a16:creationId xmlns:a16="http://schemas.microsoft.com/office/drawing/2014/main" id="{EA6D63A1-651D-BCA5-B686-89EDC05DD65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88050809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6002066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6E7C5D-C274-1959-12CE-366F984922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Recommendations</a:t>
            </a:r>
            <a:endParaRPr lang="en-NG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32B00E4-E761-784E-30EB-6B63D0A64FC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152608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88E58B-4986-270E-841D-5931AC4E1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Next Steps</a:t>
            </a:r>
            <a:endParaRPr lang="en-NG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725BC3C-9990-FAA3-CD2E-E1073FA80D2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3652160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8F066-3C80-2C0E-9DA1-27C4A6438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References</a:t>
            </a:r>
            <a:endParaRPr lang="en-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06CE74-47EC-6154-02A8-C89DDB3D83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 dirty="0"/>
              <a:t>Brownlee, J. (2020, August 26). </a:t>
            </a:r>
            <a:r>
              <a:rPr lang="en-US" i="1" dirty="0"/>
              <a:t>Train-test split for evaluating machine learning algorithms. </a:t>
            </a:r>
            <a:r>
              <a:rPr lang="en-US" i="1" dirty="0" err="1"/>
              <a:t>MachineLearningMastery</a:t>
            </a:r>
            <a:r>
              <a:rPr lang="en-US" i="1" dirty="0"/>
              <a:t>. </a:t>
            </a:r>
            <a:r>
              <a:rPr lang="en-US" dirty="0">
                <a:hlinkClick r:id="rId2" tooltip="https://machinelearningmastery.com/train-test-split-for-evaluating-machine-learning-algorithms/"/>
              </a:rPr>
              <a:t>https://machinelearningmastery.com/train-test-split-for-evaluating-machine-learning-algorithms/</a:t>
            </a:r>
            <a:endParaRPr lang="en-US" dirty="0"/>
          </a:p>
          <a:p>
            <a:r>
              <a:rPr lang="en-US" dirty="0"/>
              <a:t>DeVries, S., Krishnamurthy, G., &amp; Najafzadeh, H. (2025, November 19). </a:t>
            </a:r>
            <a:r>
              <a:rPr lang="en-US" i="1" dirty="0"/>
              <a:t>Announcing the updated AWS Well-Architected Machine Learning Lens. AWS Architecture Blog. </a:t>
            </a:r>
            <a:r>
              <a:rPr lang="en-US" dirty="0">
                <a:hlinkClick r:id="rId3" tooltip="https://aws.amazon.com/blogs/architecture/"/>
              </a:rPr>
              <a:t>https://aws.amazon.com/blogs/architecture/</a:t>
            </a:r>
            <a:endParaRPr lang="en-US" dirty="0"/>
          </a:p>
          <a:p>
            <a:r>
              <a:rPr lang="en-US" dirty="0" err="1"/>
              <a:t>Galarnyk</a:t>
            </a:r>
            <a:r>
              <a:rPr lang="en-US" dirty="0"/>
              <a:t>, M. W. (2025, August 4). </a:t>
            </a:r>
            <a:r>
              <a:rPr lang="en-US" i="1" dirty="0"/>
              <a:t>Train test split: What it means and how to use it. Built In. </a:t>
            </a:r>
            <a:r>
              <a:rPr lang="en-US" dirty="0">
                <a:hlinkClick r:id="rId4" tooltip="https://builtin.com/data-science/train-test-split"/>
              </a:rPr>
              <a:t>https://builtin.com/data-science/train-test-split</a:t>
            </a:r>
            <a:endParaRPr lang="en-US" dirty="0"/>
          </a:p>
          <a:p>
            <a:r>
              <a:rPr lang="en-US" dirty="0" err="1"/>
              <a:t>Louppe</a:t>
            </a:r>
            <a:r>
              <a:rPr lang="en-US" dirty="0"/>
              <a:t>, G. (2015). </a:t>
            </a:r>
            <a:r>
              <a:rPr lang="en-US" i="1" dirty="0"/>
              <a:t>Understanding random forests: From theory to practice</a:t>
            </a:r>
            <a:r>
              <a:rPr lang="en-US" dirty="0"/>
              <a:t> [PhD thesis]. </a:t>
            </a:r>
            <a:r>
              <a:rPr lang="en-US" dirty="0" err="1"/>
              <a:t>arXiv</a:t>
            </a:r>
            <a:r>
              <a:rPr lang="en-US" dirty="0"/>
              <a:t>. </a:t>
            </a:r>
            <a:r>
              <a:rPr lang="en-US" dirty="0">
                <a:hlinkClick r:id="rId5" tooltip="https://doi.org/10.48550/arxiv.1407.7502"/>
              </a:rPr>
              <a:t>https://doi.org/10.48550/arXiv.1407.7502</a:t>
            </a:r>
            <a:endParaRPr lang="en-US" dirty="0"/>
          </a:p>
          <a:p>
            <a:r>
              <a:rPr lang="en-US" dirty="0"/>
              <a:t>Pelletier, H. (2024, March 29). </a:t>
            </a:r>
            <a:r>
              <a:rPr lang="en-US" i="1" dirty="0"/>
              <a:t>Track your ML experiments. Towards Data Science. </a:t>
            </a:r>
            <a:r>
              <a:rPr lang="en-US" dirty="0">
                <a:hlinkClick r:id="rId6" tooltip="https://towardsdatascience.com/track-your-ml-experiments-9d2ea8cbeb02"/>
              </a:rPr>
              <a:t>https://towardsdatascience.com/track-your-ml-experiments-9d2ea8cbeb02</a:t>
            </a:r>
            <a:endParaRPr lang="en-US" dirty="0"/>
          </a:p>
          <a:p>
            <a:r>
              <a:rPr lang="en-US" dirty="0"/>
              <a:t>Raheja, S. (2025, May 1). </a:t>
            </a:r>
            <a:r>
              <a:rPr lang="en-US" i="1" dirty="0"/>
              <a:t>Train-test-validation split in 2025</a:t>
            </a:r>
            <a:r>
              <a:rPr lang="en-US" dirty="0"/>
              <a:t>. Analytics Vidhya. </a:t>
            </a:r>
            <a:r>
              <a:rPr lang="en-US" dirty="0">
                <a:hlinkClick r:id="rId7" tooltip="https://www.analyticsvidhya.com/blog/2023/11/train-test-validation-split/"/>
              </a:rPr>
              <a:t>https://www.analyticsvidhya.com/blog/2023/11/train-test-validation-split/</a:t>
            </a:r>
            <a:endParaRPr lang="en-US" dirty="0"/>
          </a:p>
          <a:p>
            <a:r>
              <a:rPr lang="en-US" dirty="0"/>
              <a:t>Sruthi, S. (2023, October 6). </a:t>
            </a:r>
            <a:r>
              <a:rPr lang="en-US" i="1" dirty="0"/>
              <a:t>Random forest algorithm in machine learning</a:t>
            </a:r>
            <a:r>
              <a:rPr lang="en-US" dirty="0"/>
              <a:t>. Analytics Vidhya. </a:t>
            </a:r>
            <a:r>
              <a:rPr lang="en-US" dirty="0">
                <a:hlinkClick r:id="rId8" tooltip="https://www.analyticsvidhya.com/blog/2021/06/understanding-random-forest/"/>
              </a:rPr>
              <a:t>https://www.analyticsvidhya.com/blog/2021/06/understanding-random-forest/</a:t>
            </a:r>
            <a:endParaRPr lang="en-US" dirty="0"/>
          </a:p>
          <a:p>
            <a:r>
              <a:rPr lang="en-US" dirty="0"/>
              <a:t>Singh, H. (2025, May 1). </a:t>
            </a:r>
            <a:r>
              <a:rPr lang="en-US" i="1" dirty="0"/>
              <a:t>10 techniques to solve imbalanced classes in machine learning</a:t>
            </a:r>
            <a:r>
              <a:rPr lang="en-US" dirty="0"/>
              <a:t>. Analytics Vidhya. </a:t>
            </a:r>
            <a:r>
              <a:rPr lang="en-US" dirty="0">
                <a:hlinkClick r:id="rId9" tooltip="https://www.analyticsvidhya.com/blog/2020/07/10-techniques-to-deal-with-class-imbalance-in-machine-learning/"/>
              </a:rPr>
              <a:t>https://www.analyticsvidhya.com/blog/2020/07/10-techniques-to-deal-with-class-imbalance-in-machine-…</a:t>
            </a:r>
            <a:endParaRPr lang="en-US" dirty="0"/>
          </a:p>
          <a:p>
            <a:r>
              <a:rPr lang="en-US" dirty="0"/>
              <a:t>Van </a:t>
            </a:r>
            <a:r>
              <a:rPr lang="en-US" dirty="0" err="1"/>
              <a:t>Dorpe</a:t>
            </a:r>
            <a:r>
              <a:rPr lang="en-US" dirty="0"/>
              <a:t>, S. (2018, December 13). </a:t>
            </a:r>
            <a:r>
              <a:rPr lang="en-US" i="1" dirty="0"/>
              <a:t>Preprocessing with </a:t>
            </a:r>
            <a:r>
              <a:rPr lang="en-US" i="1" dirty="0" err="1"/>
              <a:t>sklearn</a:t>
            </a:r>
            <a:r>
              <a:rPr lang="en-US" i="1" dirty="0"/>
              <a:t>: A complete and comprehensive guide</a:t>
            </a:r>
            <a:r>
              <a:rPr lang="en-US" dirty="0"/>
              <a:t>. Towards Data Science. </a:t>
            </a:r>
            <a:r>
              <a:rPr lang="en-US" dirty="0">
                <a:hlinkClick r:id="rId10" tooltip="https://towardsdatascience.com/preprocessing-with-sklearn-a-complete-and-comprehensive-guide-670cb98fcfb9"/>
              </a:rPr>
              <a:t>https://towardsdatascience.com/preprocessing-with-sklearn-a-complete-and-comprehensive-guide-670cb9…</a:t>
            </a:r>
            <a:endParaRPr lang="en-US" dirty="0"/>
          </a:p>
          <a:p>
            <a:r>
              <a:rPr lang="en-US" dirty="0"/>
              <a:t>Zinkevich, M. (2024). </a:t>
            </a:r>
            <a:r>
              <a:rPr lang="en-US" i="1" dirty="0"/>
              <a:t>Rules of machine learning</a:t>
            </a:r>
            <a:r>
              <a:rPr lang="en-US" dirty="0"/>
              <a:t>. Google Developers. </a:t>
            </a:r>
            <a:r>
              <a:rPr lang="en-US" dirty="0">
                <a:hlinkClick r:id="rId11" tooltip="https://developers.google.com/machine-learning/guides/rules-of-ml"/>
              </a:rPr>
              <a:t>https://developers.google.com/machine-learning/guides/rules-of-ml</a:t>
            </a:r>
            <a:endParaRPr lang="en-US" dirty="0"/>
          </a:p>
          <a:p>
            <a:endParaRPr lang="en-NG" dirty="0"/>
          </a:p>
        </p:txBody>
      </p:sp>
    </p:spTree>
    <p:extLst>
      <p:ext uri="{BB962C8B-B14F-4D97-AF65-F5344CB8AC3E}">
        <p14:creationId xmlns:p14="http://schemas.microsoft.com/office/powerpoint/2010/main" val="15651879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6e4db608-ddec-4a44-8ad7-7d5a79b7448e}" enabled="1" method="Standard" siteId="{fd799da1-bfc1-4234-a91c-72b3a1cb9e26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877</Words>
  <Application>Microsoft Office PowerPoint</Application>
  <PresentationFormat>Widescreen</PresentationFormat>
  <Paragraphs>79</Paragraphs>
  <Slides>14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Office Theme</vt:lpstr>
      <vt:lpstr>Marketing Campaign Effectiveness Analysis</vt:lpstr>
      <vt:lpstr>Introduction</vt:lpstr>
      <vt:lpstr>Objective</vt:lpstr>
      <vt:lpstr>Business Problem</vt:lpstr>
      <vt:lpstr>Solution Approach</vt:lpstr>
      <vt:lpstr>Dataset Overview</vt:lpstr>
      <vt:lpstr>Preprocessing &amp; Data Split</vt:lpstr>
      <vt:lpstr>Model Performance</vt:lpstr>
      <vt:lpstr>Key Findings</vt:lpstr>
      <vt:lpstr>Business Insights</vt:lpstr>
      <vt:lpstr>Business Value</vt:lpstr>
      <vt:lpstr>Recommendations</vt:lpstr>
      <vt:lpstr>Next Steps</vt:lpstr>
      <vt:lpstr>References</vt:lpstr>
    </vt:vector>
  </TitlesOfParts>
  <Company>Chevron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Elewode, Taiwo Oluwatosin [CNL Interns]</dc:creator>
  <cp:lastModifiedBy>Taiwo Oluwatosin Elewode</cp:lastModifiedBy>
  <cp:revision>2</cp:revision>
  <dcterms:created xsi:type="dcterms:W3CDTF">2025-11-20T07:45:58Z</dcterms:created>
  <dcterms:modified xsi:type="dcterms:W3CDTF">2025-11-24T20:59:23Z</dcterms:modified>
</cp:coreProperties>
</file>